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cancer drug that worked. It destroyed their livers instead. Nobody could see which organ was at risk before the trial. We built the thing that shows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in ten drugs that reach human trials never make it, and that has not improved in sixty years. Two of every three euros spent getting a drug approved pays for the ones that died. And the damage usually shows up years in, in a person. The question which organ will this hurt gets answered by patients. It should be answered by a computer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it. You type in a molecule and you see the body it will damage. Liver, high, it shuts down, can be fatal. Marrow, high, blood cell production collapses. Nerves, nothing, because this particular warhead leaves nerves alone. Thirty seconds. No animals, no patients, no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science, in one idea. Take two completely different drugs. Different antibodies, different cancers, different targets. They share exactly one thing, the toxic warhead they carry. Both carry the same warning and both destroy the liver. So if you know the warhead, you can name the organ before anyone is dosed. Everyone else returns a score between zero and one. We return an organ and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is already being spent. Thirteen billion euros a year on laboratory toxicity testing. Two million for one safety package, for one drug. And thirteen hundred drugs already have their liver risk catalogued in one public database. A team choosing between four candidates is about to spend two million to find out. The answer should not cost more than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Animal studies are the standard: slow, expensive, and often wrong about humans. Existing software returns a probability, with no organ and no reason. The lab-on-a-chip companies grow human tissue and test on it, which is real, but one organ at a time. We give you the whole body at once, in thirty seconds, with a reason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Today, a hundred euros for one answer, paid by card, no sales call. Next, five to twenty thousand for a team screening a family of candidates before they commit to a safety package. Later, the enterprise layer that every new molecule passes through by default. We start where we can actually get a customer this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where the pain is already understood. The guided-missile drug field is small, growing fast, and every team in it has been burned by exactly this problem. We publish the organ maps rather than cold-selling them, because in this field the tool scientists cite is the tool their company buys. Then one design partner, real molecules, every prediction logged before the lab result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and we publish all three. Were we right: did the organ we named turn out to be the organ harmed, logged before the answer was known. Did they come back: a second question from the same scientist. And did it change a decision, which is the only one that really matters. If the first number is bad we will say so publicly, because a safety tool that is quietly wrong is worse than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met on day one of this school and the tool was running by day three. We are continuing after this week, and the next milestone is already defined: one design partner, real molecules, every prediction logged before the results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and running: a working web tool, not a mockup. Eight molecules, three species, organ maps with mechanism and severity, and a price on it. Not yet: no paying customer, and the maps today are read from drug labels rather than predicted. No model has been tested against a drug it has never seen. That test is the next thing we do. We would rather show you a working tool and an honest gap than a slide of 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drug that failed already told us which organ it would break. Nobody was listening. We built the thing that listens. We are asking for three things: one design partner with real molecules, a toxicologist to join us and own what the maps say, and one point four million to prove over eighteen months that the prediction actually works.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BF8"/>
        </a:solidFill>
      </p:bgPr>
    </p:bg>
    <p:spTree>
      <p:nvGrpSpPr>
        <p:cNvPr id="1" name=""/>
        <p:cNvGrpSpPr/>
        <p:nvPr/>
      </p:nvGrpSpPr>
      <p:grpSpPr>
        <a:xfrm>
          <a:off x="0" y="0"/>
          <a:ext cx="0" cy="0"/>
          <a:chOff x="0" y="0"/>
          <a:chExt cx="0" cy="0"/>
        </a:xfrm>
      </p:grpSpPr>
      <p:sp>
        <p:nvSpPr>
          <p:cNvPr id="2" name="Text 0"/>
          <p:cNvSpPr txBox="1"/>
          <p:nvPr/>
        </p:nvSpPr>
        <p:spPr>
          <a:xfrm>
            <a:off x="640080" y="1874520"/>
            <a:ext cx="7223760" cy="731520"/>
          </a:xfrm>
          <a:prstGeom prst="rect">
            <a:avLst/>
          </a:prstGeom>
          <a:noFill/>
          <a:ln/>
        </p:spPr>
        <p:txBody>
          <a:bodyPr wrap="square" lIns="0" tIns="0" rIns="0" bIns="0" rtlCol="0" anchor="ctr"/>
          <a:lstStyle/>
          <a:p>
            <a:pPr indent="0" marL="0">
              <a:buNone/>
            </a:pPr>
            <a:r>
              <a:rPr lang="en-US" sz="4000" dirty="0">
                <a:solidFill>
                  <a:srgbClr val="82868E"/>
                </a:solidFill>
                <a:latin typeface="Cambria" pitchFamily="34" charset="0"/>
                <a:ea typeface="Cambria" pitchFamily="34" charset="-122"/>
                <a:cs typeface="Cambria" pitchFamily="34" charset="-120"/>
              </a:rPr>
              <a:t>A cancer drug that worked.</a:t>
            </a:r>
            <a:endParaRPr lang="en-US" sz="4000" dirty="0"/>
          </a:p>
        </p:txBody>
      </p:sp>
      <p:sp>
        <p:nvSpPr>
          <p:cNvPr id="3" name="Text 1"/>
          <p:cNvSpPr txBox="1"/>
          <p:nvPr/>
        </p:nvSpPr>
        <p:spPr>
          <a:xfrm>
            <a:off x="640080" y="2697480"/>
            <a:ext cx="7223760" cy="822960"/>
          </a:xfrm>
          <a:prstGeom prst="rect">
            <a:avLst/>
          </a:prstGeom>
          <a:noFill/>
          <a:ln/>
        </p:spPr>
        <p:txBody>
          <a:bodyPr wrap="square" lIns="0" tIns="0" rIns="0" bIns="0" rtlCol="0" anchor="ctr"/>
          <a:lstStyle/>
          <a:p>
            <a:pPr indent="0" marL="0">
              <a:buNone/>
            </a:pPr>
            <a:r>
              <a:rPr lang="en-US" sz="4400" dirty="0">
                <a:solidFill>
                  <a:srgbClr val="C1485A"/>
                </a:solidFill>
                <a:latin typeface="Cambria" pitchFamily="34" charset="0"/>
                <a:ea typeface="Cambria" pitchFamily="34" charset="-122"/>
                <a:cs typeface="Cambria" pitchFamily="34" charset="-120"/>
              </a:rPr>
              <a:t>It destroyed their livers instead.</a:t>
            </a:r>
            <a:endParaRPr lang="en-US" sz="4400" dirty="0"/>
          </a:p>
        </p:txBody>
      </p:sp>
      <p:sp>
        <p:nvSpPr>
          <p:cNvPr id="4" name="Text 2"/>
          <p:cNvSpPr txBox="1"/>
          <p:nvPr/>
        </p:nvSpPr>
        <p:spPr>
          <a:xfrm>
            <a:off x="640080" y="3886200"/>
            <a:ext cx="6766560" cy="731520"/>
          </a:xfrm>
          <a:prstGeom prst="rect">
            <a:avLst/>
          </a:prstGeom>
          <a:noFill/>
          <a:ln/>
        </p:spPr>
        <p:txBody>
          <a:bodyPr wrap="square" lIns="0" tIns="0" rIns="0" bIns="0" rtlCol="0" anchor="ctr"/>
          <a:lstStyle/>
          <a:p>
            <a:pPr indent="0" marL="0">
              <a:lnSpc>
                <a:spcPct val="120000"/>
              </a:lnSpc>
              <a:buNone/>
            </a:pPr>
            <a:r>
              <a:rPr lang="en-US" sz="1900" i="1" dirty="0">
                <a:solidFill>
                  <a:srgbClr val="4B5058"/>
                </a:solidFill>
                <a:latin typeface="Cambria" pitchFamily="34" charset="0"/>
                <a:ea typeface="Cambria" pitchFamily="34" charset="-122"/>
                <a:cs typeface="Cambria" pitchFamily="34" charset="-120"/>
              </a:rPr>
              <a:t>Nobody could see which organ was at risk. We built the thing that shows you.</a:t>
            </a:r>
            <a:endParaRPr lang="en-US" sz="1900" dirty="0"/>
          </a:p>
        </p:txBody>
      </p:sp>
      <p:sp>
        <p:nvSpPr>
          <p:cNvPr id="5" name="Text 3"/>
          <p:cNvSpPr txBox="1"/>
          <p:nvPr/>
        </p:nvSpPr>
        <p:spPr>
          <a:xfrm>
            <a:off x="640080" y="5029200"/>
            <a:ext cx="6400800" cy="457200"/>
          </a:xfrm>
          <a:prstGeom prst="rect">
            <a:avLst/>
          </a:prstGeom>
          <a:noFill/>
          <a:ln/>
        </p:spPr>
        <p:txBody>
          <a:bodyPr wrap="square" lIns="0" tIns="0" rIns="0" bIns="0" rtlCol="0" anchor="ctr"/>
          <a:lstStyle/>
          <a:p>
            <a:pPr indent="0" marL="0">
              <a:buNone/>
            </a:pPr>
            <a:r>
              <a:rPr lang="en-US" sz="2200" dirty="0">
                <a:solidFill>
                  <a:srgbClr val="181A1E"/>
                </a:solidFill>
                <a:latin typeface="Cambria" pitchFamily="34" charset="0"/>
                <a:ea typeface="Cambria" pitchFamily="34" charset="-122"/>
                <a:cs typeface="Cambria" pitchFamily="34" charset="-120"/>
              </a:rPr>
              <a:t>ToxAI Organ Atlas</a:t>
            </a:r>
            <a:endParaRPr lang="en-US" sz="2200" dirty="0"/>
          </a:p>
        </p:txBody>
      </p:sp>
      <p:sp>
        <p:nvSpPr>
          <p:cNvPr id="6" name="Text 4"/>
          <p:cNvSpPr txBox="1"/>
          <p:nvPr/>
        </p:nvSpPr>
        <p:spPr>
          <a:xfrm>
            <a:off x="640080" y="5532120"/>
            <a:ext cx="6400800" cy="310896"/>
          </a:xfrm>
          <a:prstGeom prst="rect">
            <a:avLst/>
          </a:prstGeom>
          <a:noFill/>
          <a:ln/>
        </p:spPr>
        <p:txBody>
          <a:bodyPr wrap="square" lIns="0" tIns="0" rIns="0" bIns="0" rtlCol="0" anchor="ctr"/>
          <a:lstStyle/>
          <a:p>
            <a:pPr indent="0" marL="0">
              <a:buNone/>
            </a:pPr>
            <a:r>
              <a:rPr lang="en-US" sz="1200" dirty="0">
                <a:solidFill>
                  <a:srgbClr val="82868E"/>
                </a:solidFill>
                <a:latin typeface="Courier New" pitchFamily="34" charset="0"/>
                <a:ea typeface="Courier New" pitchFamily="34" charset="-122"/>
                <a:cs typeface="Courier New" pitchFamily="34" charset="-120"/>
              </a:rPr>
              <a:t>SynBio Startup Summer School 2026 · Demo Day</a:t>
            </a:r>
            <a:endParaRPr lang="en-US" sz="1200" dirty="0"/>
          </a:p>
        </p:txBody>
      </p:sp>
      <p:pic>
        <p:nvPicPr>
          <p:cNvPr id="7" name="Image 0" descr="organ-cali.png">    </p:cNvPr>
          <p:cNvPicPr>
            <a:picLocks noChangeAspect="1"/>
          </p:cNvPicPr>
          <p:nvPr/>
        </p:nvPicPr>
        <p:blipFill>
          <a:blip r:embed="rId1"/>
          <a:stretch>
            <a:fillRect/>
          </a:stretch>
        </p:blipFill>
        <p:spPr>
          <a:xfrm>
            <a:off x="8595360" y="685800"/>
            <a:ext cx="2935224" cy="5486400"/>
          </a:xfrm>
          <a:prstGeom prst="rect">
            <a:avLst/>
          </a:prstGeom>
        </p:spPr>
      </p:pic>
      <p:sp>
        <p:nvSpPr>
          <p:cNvPr id="9" name="Text 5"/>
          <p:cNvSpPr txBox="1"/>
          <p:nvPr/>
        </p:nvSpPr>
        <p:spPr>
          <a:xfrm>
            <a:off x="10637215" y="6437376"/>
            <a:ext cx="914400" cy="219456"/>
          </a:xfrm>
          <a:prstGeom prst="rect">
            <a:avLst/>
          </a:prstGeom>
          <a:noFill/>
          <a:ln/>
        </p:spPr>
        <p:txBody>
          <a:bodyPr wrap="square" lIns="0" tIns="0" rIns="0" bIns="0" rtlCol="0" anchor="ctr"/>
          <a:lstStyle/>
          <a:p>
            <a:pPr algn="r" indent="0" marL="0">
              <a:buNone/>
            </a:pPr>
            <a:r>
              <a:rPr lang="en-US" sz="900" dirty="0">
                <a:solidFill>
                  <a:srgbClr val="82868E"/>
                </a:solidFill>
                <a:latin typeface="Courier New" pitchFamily="34" charset="0"/>
                <a:ea typeface="Courier New" pitchFamily="34" charset="-122"/>
                <a:cs typeface="Courier New" pitchFamily="34" charset="-120"/>
              </a:rPr>
              <a:t>1 /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8"/>
        </a:solidFill>
      </p:bgPr>
    </p:bg>
    <p:spTree>
      <p:nvGrpSpPr>
        <p:cNvPr id="1" name=""/>
        <p:cNvGrpSpPr/>
        <p:nvPr/>
      </p:nvGrpSpPr>
      <p:grpSpPr>
        <a:xfrm>
          <a:off x="0" y="0"/>
          <a:ext cx="0" cy="0"/>
          <a:chOff x="0" y="0"/>
          <a:chExt cx="0" cy="0"/>
        </a:xfrm>
      </p:grpSpPr>
      <p:sp>
        <p:nvSpPr>
          <p:cNvPr id="2" name="Text 0"/>
          <p:cNvSpPr txBox="1"/>
          <p:nvPr/>
        </p:nvSpPr>
        <p:spPr>
          <a:xfrm>
            <a:off x="640080" y="640080"/>
            <a:ext cx="10911535" cy="237744"/>
          </a:xfrm>
          <a:prstGeom prst="rect">
            <a:avLst/>
          </a:prstGeom>
          <a:noFill/>
          <a:ln/>
        </p:spPr>
        <p:txBody>
          <a:bodyPr wrap="square" lIns="0" tIns="0" rIns="0" bIns="0" rtlCol="0" anchor="ctr"/>
          <a:lstStyle/>
          <a:p>
            <a:pPr indent="0" marL="0">
              <a:buNone/>
            </a:pPr>
            <a:r>
              <a:rPr lang="en-US" sz="1000" spc="180" kern="0" dirty="0">
                <a:solidFill>
                  <a:srgbClr val="C1485A"/>
                </a:solidFill>
                <a:latin typeface="Courier New" pitchFamily="34" charset="0"/>
                <a:ea typeface="Courier New" pitchFamily="34" charset="-122"/>
                <a:cs typeface="Courier New" pitchFamily="34" charset="-120"/>
              </a:rPr>
              <a:t>THE PROBLEM</a:t>
            </a:r>
            <a:endParaRPr lang="en-US" sz="1000" dirty="0"/>
          </a:p>
        </p:txBody>
      </p:sp>
      <p:sp>
        <p:nvSpPr>
          <p:cNvPr id="3" name="Text 1"/>
          <p:cNvSpPr txBox="1"/>
          <p:nvPr/>
        </p:nvSpPr>
        <p:spPr>
          <a:xfrm>
            <a:off x="640080" y="987552"/>
            <a:ext cx="10911535" cy="1097280"/>
          </a:xfrm>
          <a:prstGeom prst="rect">
            <a:avLst/>
          </a:prstGeom>
          <a:noFill/>
          <a:ln/>
        </p:spPr>
        <p:txBody>
          <a:bodyPr wrap="square" lIns="0" tIns="0" rIns="0" bIns="0" rtlCol="0" anchor="t"/>
          <a:lstStyle/>
          <a:p>
            <a:pPr indent="0" marL="0">
              <a:lnSpc>
                <a:spcPct val="98000"/>
              </a:lnSpc>
              <a:buNone/>
            </a:pPr>
            <a:r>
              <a:rPr lang="en-US" sz="3200" dirty="0">
                <a:solidFill>
                  <a:srgbClr val="181A1E"/>
                </a:solidFill>
                <a:latin typeface="Cambria" pitchFamily="34" charset="0"/>
                <a:ea typeface="Cambria" pitchFamily="34" charset="-122"/>
                <a:cs typeface="Cambria" pitchFamily="34" charset="-120"/>
              </a:rPr>
              <a:t>Drugs fail late, and they fail on the organ nobody was watching.</a:t>
            </a:r>
            <a:endParaRPr lang="en-US" sz="3200" dirty="0"/>
          </a:p>
        </p:txBody>
      </p:sp>
      <p:sp>
        <p:nvSpPr>
          <p:cNvPr id="4" name="Shape 2"/>
          <p:cNvSpPr/>
          <p:nvPr/>
        </p:nvSpPr>
        <p:spPr>
          <a:xfrm>
            <a:off x="640080" y="2359152"/>
            <a:ext cx="3429914" cy="2286000"/>
          </a:xfrm>
          <a:prstGeom prst="roundRect">
            <a:avLst>
              <a:gd name="adj" fmla="val 5600"/>
            </a:avLst>
          </a:prstGeom>
          <a:solidFill>
            <a:srgbClr val="FBEAEC"/>
          </a:solidFill>
          <a:ln w="19050">
            <a:solidFill>
              <a:srgbClr val="C1485A"/>
            </a:solidFill>
            <a:prstDash val="solid"/>
          </a:ln>
        </p:spPr>
      </p:sp>
      <p:sp>
        <p:nvSpPr>
          <p:cNvPr id="5" name="Text 3"/>
          <p:cNvSpPr txBox="1"/>
          <p:nvPr/>
        </p:nvSpPr>
        <p:spPr>
          <a:xfrm>
            <a:off x="969264" y="2633472"/>
            <a:ext cx="2771546" cy="822960"/>
          </a:xfrm>
          <a:prstGeom prst="rect">
            <a:avLst/>
          </a:prstGeom>
          <a:noFill/>
          <a:ln/>
        </p:spPr>
        <p:txBody>
          <a:bodyPr wrap="square" lIns="0" tIns="0" rIns="0" bIns="0" rtlCol="0" anchor="ctr"/>
          <a:lstStyle/>
          <a:p>
            <a:pPr indent="0" marL="0">
              <a:buNone/>
            </a:pPr>
            <a:r>
              <a:rPr lang="en-US" sz="3000" dirty="0">
                <a:solidFill>
                  <a:srgbClr val="C1485A"/>
                </a:solidFill>
                <a:latin typeface="Cambria" pitchFamily="34" charset="0"/>
                <a:ea typeface="Cambria" pitchFamily="34" charset="-122"/>
                <a:cs typeface="Cambria" pitchFamily="34" charset="-120"/>
              </a:rPr>
              <a:t>9 in 10</a:t>
            </a:r>
            <a:endParaRPr lang="en-US" sz="3000" dirty="0"/>
          </a:p>
        </p:txBody>
      </p:sp>
      <p:sp>
        <p:nvSpPr>
          <p:cNvPr id="6" name="Text 4"/>
          <p:cNvSpPr txBox="1"/>
          <p:nvPr/>
        </p:nvSpPr>
        <p:spPr>
          <a:xfrm>
            <a:off x="969264" y="3547872"/>
            <a:ext cx="2771546" cy="914400"/>
          </a:xfrm>
          <a:prstGeom prst="rect">
            <a:avLst/>
          </a:prstGeom>
          <a:noFill/>
          <a:ln/>
        </p:spPr>
        <p:txBody>
          <a:bodyPr wrap="square" lIns="0" tIns="0" rIns="0" bIns="0" rtlCol="0" anchor="t"/>
          <a:lstStyle/>
          <a:p>
            <a:pPr indent="0" marL="0">
              <a:lnSpc>
                <a:spcPct val="118000"/>
              </a:lnSpc>
              <a:buNone/>
            </a:pPr>
            <a:r>
              <a:rPr lang="en-US" sz="1400" dirty="0">
                <a:solidFill>
                  <a:srgbClr val="4B5058"/>
                </a:solidFill>
                <a:latin typeface="Calibri" pitchFamily="34" charset="0"/>
                <a:ea typeface="Calibri" pitchFamily="34" charset="-122"/>
                <a:cs typeface="Calibri" pitchFamily="34" charset="-120"/>
              </a:rPr>
              <a:t>drugs that reach human trials never make it. That has not improved in sixty years.</a:t>
            </a:r>
            <a:endParaRPr lang="en-US" sz="1400" dirty="0"/>
          </a:p>
        </p:txBody>
      </p:sp>
      <p:sp>
        <p:nvSpPr>
          <p:cNvPr id="7" name="Shape 5"/>
          <p:cNvSpPr/>
          <p:nvPr/>
        </p:nvSpPr>
        <p:spPr>
          <a:xfrm>
            <a:off x="4380890" y="2359152"/>
            <a:ext cx="3429914" cy="2286000"/>
          </a:xfrm>
          <a:prstGeom prst="roundRect">
            <a:avLst>
              <a:gd name="adj" fmla="val 5600"/>
            </a:avLst>
          </a:prstGeom>
          <a:solidFill>
            <a:srgbClr val="FBEAEC"/>
          </a:solidFill>
          <a:ln w="19050">
            <a:solidFill>
              <a:srgbClr val="C1485A"/>
            </a:solidFill>
            <a:prstDash val="solid"/>
          </a:ln>
        </p:spPr>
      </p:sp>
      <p:sp>
        <p:nvSpPr>
          <p:cNvPr id="8" name="Text 6"/>
          <p:cNvSpPr txBox="1"/>
          <p:nvPr/>
        </p:nvSpPr>
        <p:spPr>
          <a:xfrm>
            <a:off x="4710074" y="2633472"/>
            <a:ext cx="2771546" cy="822960"/>
          </a:xfrm>
          <a:prstGeom prst="rect">
            <a:avLst/>
          </a:prstGeom>
          <a:noFill/>
          <a:ln/>
        </p:spPr>
        <p:txBody>
          <a:bodyPr wrap="square" lIns="0" tIns="0" rIns="0" bIns="0" rtlCol="0" anchor="ctr"/>
          <a:lstStyle/>
          <a:p>
            <a:pPr indent="0" marL="0">
              <a:buNone/>
            </a:pPr>
            <a:r>
              <a:rPr lang="en-US" sz="3000" dirty="0">
                <a:solidFill>
                  <a:srgbClr val="C1485A"/>
                </a:solidFill>
                <a:latin typeface="Cambria" pitchFamily="34" charset="0"/>
                <a:ea typeface="Cambria" pitchFamily="34" charset="-122"/>
                <a:cs typeface="Cambria" pitchFamily="34" charset="-120"/>
              </a:rPr>
              <a:t>2 of every 3 €</a:t>
            </a:r>
            <a:endParaRPr lang="en-US" sz="3000" dirty="0"/>
          </a:p>
        </p:txBody>
      </p:sp>
      <p:sp>
        <p:nvSpPr>
          <p:cNvPr id="9" name="Text 7"/>
          <p:cNvSpPr txBox="1"/>
          <p:nvPr/>
        </p:nvSpPr>
        <p:spPr>
          <a:xfrm>
            <a:off x="4710074" y="3547872"/>
            <a:ext cx="2771546" cy="914400"/>
          </a:xfrm>
          <a:prstGeom prst="rect">
            <a:avLst/>
          </a:prstGeom>
          <a:noFill/>
          <a:ln/>
        </p:spPr>
        <p:txBody>
          <a:bodyPr wrap="square" lIns="0" tIns="0" rIns="0" bIns="0" rtlCol="0" anchor="t"/>
          <a:lstStyle/>
          <a:p>
            <a:pPr indent="0" marL="0">
              <a:lnSpc>
                <a:spcPct val="118000"/>
              </a:lnSpc>
              <a:buNone/>
            </a:pPr>
            <a:r>
              <a:rPr lang="en-US" sz="1400" dirty="0">
                <a:solidFill>
                  <a:srgbClr val="4B5058"/>
                </a:solidFill>
                <a:latin typeface="Calibri" pitchFamily="34" charset="0"/>
                <a:ea typeface="Calibri" pitchFamily="34" charset="-122"/>
                <a:cs typeface="Calibri" pitchFamily="34" charset="-120"/>
              </a:rPr>
              <a:t>spent to get one drug approved is paying for the ones that died on the way.</a:t>
            </a:r>
            <a:endParaRPr lang="en-US" sz="1400" dirty="0"/>
          </a:p>
        </p:txBody>
      </p:sp>
      <p:sp>
        <p:nvSpPr>
          <p:cNvPr id="10" name="Shape 8"/>
          <p:cNvSpPr/>
          <p:nvPr/>
        </p:nvSpPr>
        <p:spPr>
          <a:xfrm>
            <a:off x="8121701" y="2359152"/>
            <a:ext cx="3429914" cy="2286000"/>
          </a:xfrm>
          <a:prstGeom prst="roundRect">
            <a:avLst>
              <a:gd name="adj" fmla="val 5600"/>
            </a:avLst>
          </a:prstGeom>
          <a:solidFill>
            <a:srgbClr val="F4F2EC"/>
          </a:solidFill>
          <a:ln w="19050">
            <a:solidFill>
              <a:srgbClr val="E4E1D8"/>
            </a:solidFill>
            <a:prstDash val="solid"/>
          </a:ln>
        </p:spPr>
      </p:sp>
      <p:sp>
        <p:nvSpPr>
          <p:cNvPr id="11" name="Text 9"/>
          <p:cNvSpPr txBox="1"/>
          <p:nvPr/>
        </p:nvSpPr>
        <p:spPr>
          <a:xfrm>
            <a:off x="8450885" y="2633472"/>
            <a:ext cx="2771546" cy="822960"/>
          </a:xfrm>
          <a:prstGeom prst="rect">
            <a:avLst/>
          </a:prstGeom>
          <a:noFill/>
          <a:ln/>
        </p:spPr>
        <p:txBody>
          <a:bodyPr wrap="square" lIns="0" tIns="0" rIns="0" bIns="0" rtlCol="0" anchor="ctr"/>
          <a:lstStyle/>
          <a:p>
            <a:pPr indent="0" marL="0">
              <a:buNone/>
            </a:pPr>
            <a:r>
              <a:rPr lang="en-US" sz="4200" dirty="0">
                <a:solidFill>
                  <a:srgbClr val="181A1E"/>
                </a:solidFill>
                <a:latin typeface="Cambria" pitchFamily="34" charset="0"/>
                <a:ea typeface="Cambria" pitchFamily="34" charset="-122"/>
                <a:cs typeface="Cambria" pitchFamily="34" charset="-120"/>
              </a:rPr>
              <a:t>Years</a:t>
            </a:r>
            <a:endParaRPr lang="en-US" sz="4200" dirty="0"/>
          </a:p>
        </p:txBody>
      </p:sp>
      <p:sp>
        <p:nvSpPr>
          <p:cNvPr id="12" name="Text 10"/>
          <p:cNvSpPr txBox="1"/>
          <p:nvPr/>
        </p:nvSpPr>
        <p:spPr>
          <a:xfrm>
            <a:off x="8450885" y="3547872"/>
            <a:ext cx="2771546" cy="914400"/>
          </a:xfrm>
          <a:prstGeom prst="rect">
            <a:avLst/>
          </a:prstGeom>
          <a:noFill/>
          <a:ln/>
        </p:spPr>
        <p:txBody>
          <a:bodyPr wrap="square" lIns="0" tIns="0" rIns="0" bIns="0" rtlCol="0" anchor="t"/>
          <a:lstStyle/>
          <a:p>
            <a:pPr indent="0" marL="0">
              <a:lnSpc>
                <a:spcPct val="118000"/>
              </a:lnSpc>
              <a:buNone/>
            </a:pPr>
            <a:r>
              <a:rPr lang="en-US" sz="1400" dirty="0">
                <a:solidFill>
                  <a:srgbClr val="4B5058"/>
                </a:solidFill>
                <a:latin typeface="Calibri" pitchFamily="34" charset="0"/>
                <a:ea typeface="Calibri" pitchFamily="34" charset="-122"/>
                <a:cs typeface="Calibri" pitchFamily="34" charset="-120"/>
              </a:rPr>
              <a:t>and hundreds of millions are committed before the damage shows up in a person.</a:t>
            </a:r>
            <a:endParaRPr lang="en-US" sz="1400" dirty="0"/>
          </a:p>
        </p:txBody>
      </p:sp>
      <p:sp>
        <p:nvSpPr>
          <p:cNvPr id="13" name="Text 11"/>
          <p:cNvSpPr txBox="1"/>
          <p:nvPr/>
        </p:nvSpPr>
        <p:spPr>
          <a:xfrm>
            <a:off x="640080" y="4974336"/>
            <a:ext cx="10911535" cy="457200"/>
          </a:xfrm>
          <a:prstGeom prst="rect">
            <a:avLst/>
          </a:prstGeom>
          <a:noFill/>
          <a:ln/>
        </p:spPr>
        <p:txBody>
          <a:bodyPr wrap="square" lIns="0" tIns="0" rIns="0" bIns="0" rtlCol="0" anchor="ctr"/>
          <a:lstStyle/>
          <a:p>
            <a:pPr indent="0" marL="0">
              <a:lnSpc>
                <a:spcPct val="116000"/>
              </a:lnSpc>
              <a:buNone/>
            </a:pPr>
            <a:r>
              <a:rPr lang="en-US" sz="1600" i="1" dirty="0">
                <a:solidFill>
                  <a:srgbClr val="181A1E"/>
                </a:solidFill>
                <a:latin typeface="Cambria" pitchFamily="34" charset="0"/>
                <a:ea typeface="Cambria" pitchFamily="34" charset="-122"/>
                <a:cs typeface="Cambria" pitchFamily="34" charset="-120"/>
              </a:rPr>
              <a:t>The question "which organ will this hurt?" gets answered by patients. We think it should be answered by a computer, first.</a:t>
            </a:r>
            <a:endParaRPr lang="en-US" sz="1600" dirty="0"/>
          </a:p>
        </p:txBody>
      </p:sp>
      <p:sp>
        <p:nvSpPr>
          <p:cNvPr id="14" name="Text 12"/>
          <p:cNvSpPr txBox="1"/>
          <p:nvPr/>
        </p:nvSpPr>
        <p:spPr>
          <a:xfrm>
            <a:off x="640080" y="6144768"/>
            <a:ext cx="9722815" cy="274320"/>
          </a:xfrm>
          <a:prstGeom prst="rect">
            <a:avLst/>
          </a:prstGeom>
          <a:noFill/>
          <a:ln/>
        </p:spPr>
        <p:txBody>
          <a:bodyPr wrap="square" lIns="0" tIns="0" rIns="0" bIns="0" rtlCol="0" anchor="ctr"/>
          <a:lstStyle/>
          <a:p>
            <a:pPr indent="0" marL="0">
              <a:buNone/>
            </a:pPr>
            <a:r>
              <a:rPr lang="en-US" sz="950" i="1" dirty="0">
                <a:solidFill>
                  <a:srgbClr val="82868E"/>
                </a:solidFill>
                <a:latin typeface="Calibri" pitchFamily="34" charset="0"/>
                <a:ea typeface="Calibri" pitchFamily="34" charset="-122"/>
                <a:cs typeface="Calibri" pitchFamily="34" charset="-120"/>
              </a:rPr>
              <a:t>Sertkaya, JAMA Network Open 2024 · Filipova, NAM Journal 2026</a:t>
            </a:r>
            <a:endParaRPr lang="en-US" sz="950" dirty="0"/>
          </a:p>
        </p:txBody>
      </p:sp>
      <p:sp>
        <p:nvSpPr>
          <p:cNvPr id="15" name="Text 13"/>
          <p:cNvSpPr txBox="1"/>
          <p:nvPr/>
        </p:nvSpPr>
        <p:spPr>
          <a:xfrm>
            <a:off x="10637215" y="6437376"/>
            <a:ext cx="914400" cy="219456"/>
          </a:xfrm>
          <a:prstGeom prst="rect">
            <a:avLst/>
          </a:prstGeom>
          <a:noFill/>
          <a:ln/>
        </p:spPr>
        <p:txBody>
          <a:bodyPr wrap="square" lIns="0" tIns="0" rIns="0" bIns="0" rtlCol="0" anchor="ctr"/>
          <a:lstStyle/>
          <a:p>
            <a:pPr algn="r" indent="0" marL="0">
              <a:buNone/>
            </a:pPr>
            <a:r>
              <a:rPr lang="en-US" sz="900" dirty="0">
                <a:solidFill>
                  <a:srgbClr val="82868E"/>
                </a:solidFill>
                <a:latin typeface="Courier New" pitchFamily="34" charset="0"/>
                <a:ea typeface="Courier New" pitchFamily="34" charset="-122"/>
                <a:cs typeface="Courier New"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BF8"/>
        </a:solidFill>
      </p:bgPr>
    </p:bg>
    <p:spTree>
      <p:nvGrpSpPr>
        <p:cNvPr id="1" name=""/>
        <p:cNvGrpSpPr/>
        <p:nvPr/>
      </p:nvGrpSpPr>
      <p:grpSpPr>
        <a:xfrm>
          <a:off x="0" y="0"/>
          <a:ext cx="0" cy="0"/>
          <a:chOff x="0" y="0"/>
          <a:chExt cx="0" cy="0"/>
        </a:xfrm>
      </p:grpSpPr>
      <p:sp>
        <p:nvSpPr>
          <p:cNvPr id="2" name="Text 0"/>
          <p:cNvSpPr txBox="1"/>
          <p:nvPr/>
        </p:nvSpPr>
        <p:spPr>
          <a:xfrm>
            <a:off x="640080" y="640080"/>
            <a:ext cx="10911535" cy="237744"/>
          </a:xfrm>
          <a:prstGeom prst="rect">
            <a:avLst/>
          </a:prstGeom>
          <a:noFill/>
          <a:ln/>
        </p:spPr>
        <p:txBody>
          <a:bodyPr wrap="square" lIns="0" tIns="0" rIns="0" bIns="0" rtlCol="0" anchor="ctr"/>
          <a:lstStyle/>
          <a:p>
            <a:pPr indent="0" marL="0">
              <a:buNone/>
            </a:pPr>
            <a:r>
              <a:rPr lang="en-US" sz="1000" spc="180" kern="0" dirty="0">
                <a:solidFill>
                  <a:srgbClr val="C1485A"/>
                </a:solidFill>
                <a:latin typeface="Courier New" pitchFamily="34" charset="0"/>
                <a:ea typeface="Courier New" pitchFamily="34" charset="-122"/>
                <a:cs typeface="Courier New" pitchFamily="34" charset="-120"/>
              </a:rPr>
              <a:t>OUR SOLUTION</a:t>
            </a:r>
            <a:endParaRPr lang="en-US" sz="1000" dirty="0"/>
          </a:p>
        </p:txBody>
      </p:sp>
      <p:sp>
        <p:nvSpPr>
          <p:cNvPr id="3" name="Text 1"/>
          <p:cNvSpPr txBox="1"/>
          <p:nvPr/>
        </p:nvSpPr>
        <p:spPr>
          <a:xfrm>
            <a:off x="640080" y="987552"/>
            <a:ext cx="10911535" cy="658368"/>
          </a:xfrm>
          <a:prstGeom prst="rect">
            <a:avLst/>
          </a:prstGeom>
          <a:noFill/>
          <a:ln/>
        </p:spPr>
        <p:txBody>
          <a:bodyPr wrap="square" lIns="0" tIns="0" rIns="0" bIns="0" rtlCol="0" anchor="t"/>
          <a:lstStyle/>
          <a:p>
            <a:pPr indent="0" marL="0">
              <a:lnSpc>
                <a:spcPct val="98000"/>
              </a:lnSpc>
              <a:buNone/>
            </a:pPr>
            <a:r>
              <a:rPr lang="en-US" sz="3600" dirty="0">
                <a:solidFill>
                  <a:srgbClr val="181A1E"/>
                </a:solidFill>
                <a:latin typeface="Cambria" pitchFamily="34" charset="0"/>
                <a:ea typeface="Cambria" pitchFamily="34" charset="-122"/>
                <a:cs typeface="Cambria" pitchFamily="34" charset="-120"/>
              </a:rPr>
              <a:t>Type in a molecule. See the body it will damage.</a:t>
            </a:r>
            <a:endParaRPr lang="en-US" sz="3600" dirty="0"/>
          </a:p>
        </p:txBody>
      </p:sp>
      <p:pic>
        <p:nvPicPr>
          <p:cNvPr id="4" name="Image 0" descr="organ-cali.png">    </p:cNvPr>
          <p:cNvPicPr>
            <a:picLocks noChangeAspect="1"/>
          </p:cNvPicPr>
          <p:nvPr/>
        </p:nvPicPr>
        <p:blipFill>
          <a:blip r:embed="rId1"/>
          <a:stretch>
            <a:fillRect/>
          </a:stretch>
        </p:blipFill>
        <p:spPr>
          <a:xfrm>
            <a:off x="1097280" y="1783080"/>
            <a:ext cx="2203704" cy="4114800"/>
          </a:xfrm>
          <a:prstGeom prst="rect">
            <a:avLst/>
          </a:prstGeom>
        </p:spPr>
      </p:pic>
      <p:sp>
        <p:nvSpPr>
          <p:cNvPr id="5" name="Shape 2"/>
          <p:cNvSpPr/>
          <p:nvPr/>
        </p:nvSpPr>
        <p:spPr>
          <a:xfrm>
            <a:off x="4023360" y="1920240"/>
            <a:ext cx="7528255" cy="896112"/>
          </a:xfrm>
          <a:prstGeom prst="roundRect">
            <a:avLst>
              <a:gd name="adj" fmla="val 14286"/>
            </a:avLst>
          </a:prstGeom>
          <a:solidFill>
            <a:srgbClr val="FBEAEC"/>
          </a:solidFill>
          <a:ln w="19050">
            <a:solidFill>
              <a:srgbClr val="C1485A"/>
            </a:solidFill>
            <a:prstDash val="solid"/>
          </a:ln>
        </p:spPr>
      </p:sp>
      <p:sp>
        <p:nvSpPr>
          <p:cNvPr id="6" name="Text 3"/>
          <p:cNvSpPr txBox="1"/>
          <p:nvPr/>
        </p:nvSpPr>
        <p:spPr>
          <a:xfrm>
            <a:off x="4334256" y="1920240"/>
            <a:ext cx="2286000" cy="896112"/>
          </a:xfrm>
          <a:prstGeom prst="rect">
            <a:avLst/>
          </a:prstGeom>
          <a:noFill/>
          <a:ln/>
        </p:spPr>
        <p:txBody>
          <a:bodyPr wrap="square" lIns="0" tIns="0" rIns="0" bIns="0" rtlCol="0" anchor="ctr"/>
          <a:lstStyle/>
          <a:p>
            <a:pPr indent="0" marL="0">
              <a:buNone/>
            </a:pPr>
            <a:r>
              <a:rPr lang="en-US" sz="2000" dirty="0">
                <a:solidFill>
                  <a:srgbClr val="181A1E"/>
                </a:solidFill>
                <a:latin typeface="Cambria" pitchFamily="34" charset="0"/>
                <a:ea typeface="Cambria" pitchFamily="34" charset="-122"/>
                <a:cs typeface="Cambria" pitchFamily="34" charset="-120"/>
              </a:rPr>
              <a:t>Liver</a:t>
            </a:r>
            <a:endParaRPr lang="en-US" sz="2000" dirty="0"/>
          </a:p>
        </p:txBody>
      </p:sp>
      <p:sp>
        <p:nvSpPr>
          <p:cNvPr id="7" name="Shape 4"/>
          <p:cNvSpPr/>
          <p:nvPr/>
        </p:nvSpPr>
        <p:spPr>
          <a:xfrm>
            <a:off x="6766560" y="2249424"/>
            <a:ext cx="548640" cy="237744"/>
          </a:xfrm>
          <a:prstGeom prst="roundRect">
            <a:avLst>
              <a:gd name="adj" fmla="val 50000"/>
            </a:avLst>
          </a:prstGeom>
          <a:solidFill>
            <a:srgbClr val="FFFFFF"/>
          </a:solidFill>
          <a:ln/>
        </p:spPr>
      </p:sp>
      <p:sp>
        <p:nvSpPr>
          <p:cNvPr id="8" name="Text 5"/>
          <p:cNvSpPr txBox="1"/>
          <p:nvPr/>
        </p:nvSpPr>
        <p:spPr>
          <a:xfrm>
            <a:off x="6766560" y="2258568"/>
            <a:ext cx="548640" cy="219456"/>
          </a:xfrm>
          <a:prstGeom prst="rect">
            <a:avLst/>
          </a:prstGeom>
          <a:noFill/>
          <a:ln/>
        </p:spPr>
        <p:txBody>
          <a:bodyPr wrap="square" lIns="0" tIns="0" rIns="0" bIns="0" rtlCol="0" anchor="ctr"/>
          <a:lstStyle/>
          <a:p>
            <a:pPr algn="ctr" indent="0" marL="0">
              <a:buNone/>
            </a:pPr>
            <a:r>
              <a:rPr lang="en-US" sz="900" b="1" spc="110" kern="0" dirty="0">
                <a:solidFill>
                  <a:srgbClr val="C1485A"/>
                </a:solidFill>
                <a:latin typeface="Courier New" pitchFamily="34" charset="0"/>
                <a:ea typeface="Courier New" pitchFamily="34" charset="-122"/>
                <a:cs typeface="Courier New" pitchFamily="34" charset="-120"/>
              </a:rPr>
              <a:t>HIGH</a:t>
            </a:r>
            <a:endParaRPr lang="en-US" sz="900" dirty="0"/>
          </a:p>
        </p:txBody>
      </p:sp>
      <p:sp>
        <p:nvSpPr>
          <p:cNvPr id="9" name="Text 6"/>
          <p:cNvSpPr txBox="1"/>
          <p:nvPr/>
        </p:nvSpPr>
        <p:spPr>
          <a:xfrm>
            <a:off x="8138160" y="1920240"/>
            <a:ext cx="3139135" cy="896112"/>
          </a:xfrm>
          <a:prstGeom prst="rect">
            <a:avLst/>
          </a:prstGeom>
          <a:noFill/>
          <a:ln/>
        </p:spPr>
        <p:txBody>
          <a:bodyPr wrap="square" lIns="0" tIns="0" rIns="0" bIns="0" rtlCol="0" anchor="ctr"/>
          <a:lstStyle/>
          <a:p>
            <a:pPr indent="0" marL="0">
              <a:buNone/>
            </a:pPr>
            <a:r>
              <a:rPr lang="en-US" sz="1400" dirty="0">
                <a:solidFill>
                  <a:srgbClr val="4B5058"/>
                </a:solidFill>
                <a:latin typeface="Calibri" pitchFamily="34" charset="0"/>
                <a:ea typeface="Calibri" pitchFamily="34" charset="-122"/>
                <a:cs typeface="Calibri" pitchFamily="34" charset="-120"/>
              </a:rPr>
              <a:t>The liver shuts down. Can be fatal.</a:t>
            </a:r>
            <a:endParaRPr lang="en-US" sz="1400" dirty="0"/>
          </a:p>
        </p:txBody>
      </p:sp>
      <p:sp>
        <p:nvSpPr>
          <p:cNvPr id="10" name="Shape 7"/>
          <p:cNvSpPr/>
          <p:nvPr/>
        </p:nvSpPr>
        <p:spPr>
          <a:xfrm>
            <a:off x="4023360" y="2971800"/>
            <a:ext cx="7528255" cy="896112"/>
          </a:xfrm>
          <a:prstGeom prst="roundRect">
            <a:avLst>
              <a:gd name="adj" fmla="val 14286"/>
            </a:avLst>
          </a:prstGeom>
          <a:solidFill>
            <a:srgbClr val="FBEAEC"/>
          </a:solidFill>
          <a:ln w="19050">
            <a:solidFill>
              <a:srgbClr val="C1485A"/>
            </a:solidFill>
            <a:prstDash val="solid"/>
          </a:ln>
        </p:spPr>
      </p:sp>
      <p:sp>
        <p:nvSpPr>
          <p:cNvPr id="11" name="Text 8"/>
          <p:cNvSpPr txBox="1"/>
          <p:nvPr/>
        </p:nvSpPr>
        <p:spPr>
          <a:xfrm>
            <a:off x="4334256" y="2971800"/>
            <a:ext cx="2286000" cy="896112"/>
          </a:xfrm>
          <a:prstGeom prst="rect">
            <a:avLst/>
          </a:prstGeom>
          <a:noFill/>
          <a:ln/>
        </p:spPr>
        <p:txBody>
          <a:bodyPr wrap="square" lIns="0" tIns="0" rIns="0" bIns="0" rtlCol="0" anchor="ctr"/>
          <a:lstStyle/>
          <a:p>
            <a:pPr indent="0" marL="0">
              <a:buNone/>
            </a:pPr>
            <a:r>
              <a:rPr lang="en-US" sz="2000" dirty="0">
                <a:solidFill>
                  <a:srgbClr val="181A1E"/>
                </a:solidFill>
                <a:latin typeface="Cambria" pitchFamily="34" charset="0"/>
                <a:ea typeface="Cambria" pitchFamily="34" charset="-122"/>
                <a:cs typeface="Cambria" pitchFamily="34" charset="-120"/>
              </a:rPr>
              <a:t>Bone marrow</a:t>
            </a:r>
            <a:endParaRPr lang="en-US" sz="2000" dirty="0"/>
          </a:p>
        </p:txBody>
      </p:sp>
      <p:sp>
        <p:nvSpPr>
          <p:cNvPr id="12" name="Shape 9"/>
          <p:cNvSpPr/>
          <p:nvPr/>
        </p:nvSpPr>
        <p:spPr>
          <a:xfrm>
            <a:off x="6766560" y="3300984"/>
            <a:ext cx="548640" cy="237744"/>
          </a:xfrm>
          <a:prstGeom prst="roundRect">
            <a:avLst>
              <a:gd name="adj" fmla="val 50000"/>
            </a:avLst>
          </a:prstGeom>
          <a:solidFill>
            <a:srgbClr val="FFFFFF"/>
          </a:solidFill>
          <a:ln/>
        </p:spPr>
      </p:sp>
      <p:sp>
        <p:nvSpPr>
          <p:cNvPr id="13" name="Text 10"/>
          <p:cNvSpPr txBox="1"/>
          <p:nvPr/>
        </p:nvSpPr>
        <p:spPr>
          <a:xfrm>
            <a:off x="6766560" y="3310128"/>
            <a:ext cx="548640" cy="219456"/>
          </a:xfrm>
          <a:prstGeom prst="rect">
            <a:avLst/>
          </a:prstGeom>
          <a:noFill/>
          <a:ln/>
        </p:spPr>
        <p:txBody>
          <a:bodyPr wrap="square" lIns="0" tIns="0" rIns="0" bIns="0" rtlCol="0" anchor="ctr"/>
          <a:lstStyle/>
          <a:p>
            <a:pPr algn="ctr" indent="0" marL="0">
              <a:buNone/>
            </a:pPr>
            <a:r>
              <a:rPr lang="en-US" sz="900" b="1" spc="110" kern="0" dirty="0">
                <a:solidFill>
                  <a:srgbClr val="C1485A"/>
                </a:solidFill>
                <a:latin typeface="Courier New" pitchFamily="34" charset="0"/>
                <a:ea typeface="Courier New" pitchFamily="34" charset="-122"/>
                <a:cs typeface="Courier New" pitchFamily="34" charset="-120"/>
              </a:rPr>
              <a:t>HIGH</a:t>
            </a:r>
            <a:endParaRPr lang="en-US" sz="900" dirty="0"/>
          </a:p>
        </p:txBody>
      </p:sp>
      <p:sp>
        <p:nvSpPr>
          <p:cNvPr id="14" name="Text 11"/>
          <p:cNvSpPr txBox="1"/>
          <p:nvPr/>
        </p:nvSpPr>
        <p:spPr>
          <a:xfrm>
            <a:off x="8138160" y="2971800"/>
            <a:ext cx="3139135" cy="896112"/>
          </a:xfrm>
          <a:prstGeom prst="rect">
            <a:avLst/>
          </a:prstGeom>
          <a:noFill/>
          <a:ln/>
        </p:spPr>
        <p:txBody>
          <a:bodyPr wrap="square" lIns="0" tIns="0" rIns="0" bIns="0" rtlCol="0" anchor="ctr"/>
          <a:lstStyle/>
          <a:p>
            <a:pPr indent="0" marL="0">
              <a:buNone/>
            </a:pPr>
            <a:r>
              <a:rPr lang="en-US" sz="1400" dirty="0">
                <a:solidFill>
                  <a:srgbClr val="4B5058"/>
                </a:solidFill>
                <a:latin typeface="Calibri" pitchFamily="34" charset="0"/>
                <a:ea typeface="Calibri" pitchFamily="34" charset="-122"/>
                <a:cs typeface="Calibri" pitchFamily="34" charset="-120"/>
              </a:rPr>
              <a:t>Blood cell production collapses.</a:t>
            </a:r>
            <a:endParaRPr lang="en-US" sz="1400" dirty="0"/>
          </a:p>
        </p:txBody>
      </p:sp>
      <p:sp>
        <p:nvSpPr>
          <p:cNvPr id="15" name="Shape 12"/>
          <p:cNvSpPr/>
          <p:nvPr/>
        </p:nvSpPr>
        <p:spPr>
          <a:xfrm>
            <a:off x="4023360" y="4023360"/>
            <a:ext cx="7528255" cy="896112"/>
          </a:xfrm>
          <a:prstGeom prst="roundRect">
            <a:avLst>
              <a:gd name="adj" fmla="val 14286"/>
            </a:avLst>
          </a:prstGeom>
          <a:solidFill>
            <a:srgbClr val="FFFFFF"/>
          </a:solidFill>
          <a:ln w="19050">
            <a:solidFill>
              <a:srgbClr val="E4E1D8"/>
            </a:solidFill>
            <a:prstDash val="solid"/>
          </a:ln>
        </p:spPr>
      </p:sp>
      <p:sp>
        <p:nvSpPr>
          <p:cNvPr id="16" name="Text 13"/>
          <p:cNvSpPr txBox="1"/>
          <p:nvPr/>
        </p:nvSpPr>
        <p:spPr>
          <a:xfrm>
            <a:off x="4334256" y="4023360"/>
            <a:ext cx="2286000" cy="896112"/>
          </a:xfrm>
          <a:prstGeom prst="rect">
            <a:avLst/>
          </a:prstGeom>
          <a:noFill/>
          <a:ln/>
        </p:spPr>
        <p:txBody>
          <a:bodyPr wrap="square" lIns="0" tIns="0" rIns="0" bIns="0" rtlCol="0" anchor="ctr"/>
          <a:lstStyle/>
          <a:p>
            <a:pPr indent="0" marL="0">
              <a:buNone/>
            </a:pPr>
            <a:r>
              <a:rPr lang="en-US" sz="2000" dirty="0">
                <a:solidFill>
                  <a:srgbClr val="181A1E"/>
                </a:solidFill>
                <a:latin typeface="Cambria" pitchFamily="34" charset="0"/>
                <a:ea typeface="Cambria" pitchFamily="34" charset="-122"/>
                <a:cs typeface="Cambria" pitchFamily="34" charset="-120"/>
              </a:rPr>
              <a:t>Nerves</a:t>
            </a:r>
            <a:endParaRPr lang="en-US" sz="2000" dirty="0"/>
          </a:p>
        </p:txBody>
      </p:sp>
      <p:sp>
        <p:nvSpPr>
          <p:cNvPr id="17" name="Shape 14"/>
          <p:cNvSpPr/>
          <p:nvPr/>
        </p:nvSpPr>
        <p:spPr>
          <a:xfrm>
            <a:off x="6766560" y="4352544"/>
            <a:ext cx="891540" cy="237744"/>
          </a:xfrm>
          <a:prstGeom prst="roundRect">
            <a:avLst>
              <a:gd name="adj" fmla="val 50000"/>
            </a:avLst>
          </a:prstGeom>
          <a:solidFill>
            <a:srgbClr val="F4F2EC"/>
          </a:solidFill>
          <a:ln/>
        </p:spPr>
      </p:sp>
      <p:sp>
        <p:nvSpPr>
          <p:cNvPr id="18" name="Text 15"/>
          <p:cNvSpPr txBox="1"/>
          <p:nvPr/>
        </p:nvSpPr>
        <p:spPr>
          <a:xfrm>
            <a:off x="6766560" y="4361688"/>
            <a:ext cx="891540" cy="219456"/>
          </a:xfrm>
          <a:prstGeom prst="rect">
            <a:avLst/>
          </a:prstGeom>
          <a:noFill/>
          <a:ln/>
        </p:spPr>
        <p:txBody>
          <a:bodyPr wrap="square" lIns="0" tIns="0" rIns="0" bIns="0" rtlCol="0" anchor="ctr"/>
          <a:lstStyle/>
          <a:p>
            <a:pPr algn="ctr" indent="0" marL="0">
              <a:buNone/>
            </a:pPr>
            <a:r>
              <a:rPr lang="en-US" sz="900" b="1" spc="110" kern="0" dirty="0">
                <a:solidFill>
                  <a:srgbClr val="82868E"/>
                </a:solidFill>
                <a:latin typeface="Courier New" pitchFamily="34" charset="0"/>
                <a:ea typeface="Courier New" pitchFamily="34" charset="-122"/>
                <a:cs typeface="Courier New" pitchFamily="34" charset="-120"/>
              </a:rPr>
              <a:t>NO SIGNAL</a:t>
            </a:r>
            <a:endParaRPr lang="en-US" sz="900" dirty="0"/>
          </a:p>
        </p:txBody>
      </p:sp>
      <p:sp>
        <p:nvSpPr>
          <p:cNvPr id="19" name="Text 16"/>
          <p:cNvSpPr txBox="1"/>
          <p:nvPr/>
        </p:nvSpPr>
        <p:spPr>
          <a:xfrm>
            <a:off x="8138160" y="4023360"/>
            <a:ext cx="3139135" cy="896112"/>
          </a:xfrm>
          <a:prstGeom prst="rect">
            <a:avLst/>
          </a:prstGeom>
          <a:noFill/>
          <a:ln/>
        </p:spPr>
        <p:txBody>
          <a:bodyPr wrap="square" lIns="0" tIns="0" rIns="0" bIns="0" rtlCol="0" anchor="ctr"/>
          <a:lstStyle/>
          <a:p>
            <a:pPr indent="0" marL="0">
              <a:buNone/>
            </a:pPr>
            <a:r>
              <a:rPr lang="en-US" sz="1400" dirty="0">
                <a:solidFill>
                  <a:srgbClr val="4B5058"/>
                </a:solidFill>
                <a:latin typeface="Calibri" pitchFamily="34" charset="0"/>
                <a:ea typeface="Calibri" pitchFamily="34" charset="-122"/>
                <a:cs typeface="Calibri" pitchFamily="34" charset="-120"/>
              </a:rPr>
              <a:t>This warhead leaves nerves alone.</a:t>
            </a:r>
            <a:endParaRPr lang="en-US" sz="1400" dirty="0"/>
          </a:p>
        </p:txBody>
      </p:sp>
      <p:sp>
        <p:nvSpPr>
          <p:cNvPr id="20" name="Text 17"/>
          <p:cNvSpPr txBox="1"/>
          <p:nvPr/>
        </p:nvSpPr>
        <p:spPr>
          <a:xfrm>
            <a:off x="4023360" y="5212080"/>
            <a:ext cx="7528255" cy="365760"/>
          </a:xfrm>
          <a:prstGeom prst="rect">
            <a:avLst/>
          </a:prstGeom>
          <a:noFill/>
          <a:ln/>
        </p:spPr>
        <p:txBody>
          <a:bodyPr wrap="square" lIns="0" tIns="0" rIns="0" bIns="0" rtlCol="0" anchor="ctr"/>
          <a:lstStyle/>
          <a:p>
            <a:pPr indent="0" marL="0">
              <a:buNone/>
            </a:pPr>
            <a:r>
              <a:rPr lang="en-US" sz="1500" i="1" dirty="0">
                <a:solidFill>
                  <a:srgbClr val="7C2A38"/>
                </a:solidFill>
                <a:latin typeface="Cambria" pitchFamily="34" charset="0"/>
                <a:ea typeface="Cambria" pitchFamily="34" charset="-122"/>
                <a:cs typeface="Cambria" pitchFamily="34" charset="-120"/>
              </a:rPr>
              <a:t>Thirty seconds. No animals, no patients, no waiting.</a:t>
            </a:r>
            <a:endParaRPr lang="en-US" sz="1500" dirty="0"/>
          </a:p>
        </p:txBody>
      </p:sp>
      <p:sp>
        <p:nvSpPr>
          <p:cNvPr id="21" name="Text 18"/>
          <p:cNvSpPr txBox="1"/>
          <p:nvPr/>
        </p:nvSpPr>
        <p:spPr>
          <a:xfrm>
            <a:off x="10637215" y="6437376"/>
            <a:ext cx="914400" cy="219456"/>
          </a:xfrm>
          <a:prstGeom prst="rect">
            <a:avLst/>
          </a:prstGeom>
          <a:noFill/>
          <a:ln/>
        </p:spPr>
        <p:txBody>
          <a:bodyPr wrap="square" lIns="0" tIns="0" rIns="0" bIns="0" rtlCol="0" anchor="ctr"/>
          <a:lstStyle/>
          <a:p>
            <a:pPr algn="r" indent="0" marL="0">
              <a:buNone/>
            </a:pPr>
            <a:r>
              <a:rPr lang="en-US" sz="900" dirty="0">
                <a:solidFill>
                  <a:srgbClr val="82868E"/>
                </a:solidFill>
                <a:latin typeface="Courier New" pitchFamily="34" charset="0"/>
                <a:ea typeface="Courier New" pitchFamily="34" charset="-122"/>
                <a:cs typeface="Courier New"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8"/>
        </a:solidFill>
      </p:bgPr>
    </p:bg>
    <p:spTree>
      <p:nvGrpSpPr>
        <p:cNvPr id="1" name=""/>
        <p:cNvGrpSpPr/>
        <p:nvPr/>
      </p:nvGrpSpPr>
      <p:grpSpPr>
        <a:xfrm>
          <a:off x="0" y="0"/>
          <a:ext cx="0" cy="0"/>
          <a:chOff x="0" y="0"/>
          <a:chExt cx="0" cy="0"/>
        </a:xfrm>
      </p:grpSpPr>
      <p:sp>
        <p:nvSpPr>
          <p:cNvPr id="2" name="Text 0"/>
          <p:cNvSpPr txBox="1"/>
          <p:nvPr/>
        </p:nvSpPr>
        <p:spPr>
          <a:xfrm>
            <a:off x="640080" y="640080"/>
            <a:ext cx="10911535" cy="237744"/>
          </a:xfrm>
          <a:prstGeom prst="rect">
            <a:avLst/>
          </a:prstGeom>
          <a:noFill/>
          <a:ln/>
        </p:spPr>
        <p:txBody>
          <a:bodyPr wrap="square" lIns="0" tIns="0" rIns="0" bIns="0" rtlCol="0" anchor="ctr"/>
          <a:lstStyle/>
          <a:p>
            <a:pPr indent="0" marL="0">
              <a:buNone/>
            </a:pPr>
            <a:r>
              <a:rPr lang="en-US" sz="1000" spc="180" kern="0" dirty="0">
                <a:solidFill>
                  <a:srgbClr val="C1485A"/>
                </a:solidFill>
                <a:latin typeface="Courier New" pitchFamily="34" charset="0"/>
                <a:ea typeface="Courier New" pitchFamily="34" charset="-122"/>
                <a:cs typeface="Courier New" pitchFamily="34" charset="-120"/>
              </a:rPr>
              <a:t>TECHNOLOGY AND WHAT MAKES US DIFFERENT</a:t>
            </a:r>
            <a:endParaRPr lang="en-US" sz="1000" dirty="0"/>
          </a:p>
        </p:txBody>
      </p:sp>
      <p:sp>
        <p:nvSpPr>
          <p:cNvPr id="3" name="Text 1"/>
          <p:cNvSpPr txBox="1"/>
          <p:nvPr/>
        </p:nvSpPr>
        <p:spPr>
          <a:xfrm>
            <a:off x="640080" y="987552"/>
            <a:ext cx="10911535" cy="658368"/>
          </a:xfrm>
          <a:prstGeom prst="rect">
            <a:avLst/>
          </a:prstGeom>
          <a:noFill/>
          <a:ln/>
        </p:spPr>
        <p:txBody>
          <a:bodyPr wrap="square" lIns="0" tIns="0" rIns="0" bIns="0" rtlCol="0" anchor="t"/>
          <a:lstStyle/>
          <a:p>
            <a:pPr indent="0" marL="0">
              <a:lnSpc>
                <a:spcPct val="98000"/>
              </a:lnSpc>
              <a:buNone/>
            </a:pPr>
            <a:r>
              <a:rPr lang="en-US" sz="3600" dirty="0">
                <a:solidFill>
                  <a:srgbClr val="181A1E"/>
                </a:solidFill>
                <a:latin typeface="Cambria" pitchFamily="34" charset="0"/>
                <a:ea typeface="Cambria" pitchFamily="34" charset="-122"/>
                <a:cs typeface="Cambria" pitchFamily="34" charset="-120"/>
              </a:rPr>
              <a:t>The harm follows the warhead, not the target.</a:t>
            </a:r>
            <a:endParaRPr lang="en-US" sz="3600" dirty="0"/>
          </a:p>
        </p:txBody>
      </p:sp>
      <p:sp>
        <p:nvSpPr>
          <p:cNvPr id="4" name="Shape 2"/>
          <p:cNvSpPr/>
          <p:nvPr/>
        </p:nvSpPr>
        <p:spPr>
          <a:xfrm>
            <a:off x="640080" y="1920240"/>
            <a:ext cx="5181448" cy="2286000"/>
          </a:xfrm>
          <a:prstGeom prst="roundRect">
            <a:avLst>
              <a:gd name="adj" fmla="val 5600"/>
            </a:avLst>
          </a:prstGeom>
          <a:solidFill>
            <a:srgbClr val="FFFFFF"/>
          </a:solidFill>
          <a:ln w="19050">
            <a:solidFill>
              <a:srgbClr val="E4E1D8"/>
            </a:solidFill>
            <a:prstDash val="solid"/>
          </a:ln>
        </p:spPr>
      </p:sp>
      <p:sp>
        <p:nvSpPr>
          <p:cNvPr id="5" name="Text 3"/>
          <p:cNvSpPr txBox="1"/>
          <p:nvPr/>
        </p:nvSpPr>
        <p:spPr>
          <a:xfrm>
            <a:off x="969264" y="2176272"/>
            <a:ext cx="4523080" cy="365760"/>
          </a:xfrm>
          <a:prstGeom prst="rect">
            <a:avLst/>
          </a:prstGeom>
          <a:noFill/>
          <a:ln/>
        </p:spPr>
        <p:txBody>
          <a:bodyPr wrap="square" lIns="0" tIns="0" rIns="0" bIns="0" rtlCol="0" anchor="ctr"/>
          <a:lstStyle/>
          <a:p>
            <a:pPr indent="0" marL="0">
              <a:buNone/>
            </a:pPr>
            <a:r>
              <a:rPr lang="en-US" sz="1700" dirty="0">
                <a:solidFill>
                  <a:srgbClr val="181A1E"/>
                </a:solidFill>
                <a:latin typeface="Cambria" pitchFamily="34" charset="0"/>
                <a:ea typeface="Cambria" pitchFamily="34" charset="-122"/>
                <a:cs typeface="Cambria" pitchFamily="34" charset="-120"/>
              </a:rPr>
              <a:t>Two completely different drugs</a:t>
            </a:r>
            <a:endParaRPr lang="en-US" sz="1700" dirty="0"/>
          </a:p>
        </p:txBody>
      </p:sp>
      <p:sp>
        <p:nvSpPr>
          <p:cNvPr id="6" name="Text 4"/>
          <p:cNvSpPr txBox="1"/>
          <p:nvPr/>
        </p:nvSpPr>
        <p:spPr>
          <a:xfrm>
            <a:off x="969264" y="2633472"/>
            <a:ext cx="4523080" cy="914400"/>
          </a:xfrm>
          <a:prstGeom prst="rect">
            <a:avLst/>
          </a:prstGeom>
          <a:noFill/>
          <a:ln/>
        </p:spPr>
        <p:txBody>
          <a:bodyPr wrap="square" lIns="0" tIns="0" rIns="0" bIns="0" rtlCol="0" anchor="t"/>
          <a:lstStyle/>
          <a:p>
            <a:pPr indent="0" marL="0">
              <a:lnSpc>
                <a:spcPct val="118000"/>
              </a:lnSpc>
              <a:buNone/>
            </a:pPr>
            <a:r>
              <a:rPr lang="en-US" sz="1400" dirty="0">
                <a:solidFill>
                  <a:srgbClr val="4B5058"/>
                </a:solidFill>
                <a:latin typeface="Calibri" pitchFamily="34" charset="0"/>
                <a:ea typeface="Calibri" pitchFamily="34" charset="-122"/>
                <a:cs typeface="Calibri" pitchFamily="34" charset="-120"/>
              </a:rPr>
              <a:t>Different antibodies. Different cancers. Different targets. They share exactly one thing: the toxic warhead they carry.</a:t>
            </a:r>
            <a:endParaRPr lang="en-US" sz="1400" dirty="0"/>
          </a:p>
        </p:txBody>
      </p:sp>
      <p:sp>
        <p:nvSpPr>
          <p:cNvPr id="7" name="Text 5"/>
          <p:cNvSpPr txBox="1"/>
          <p:nvPr/>
        </p:nvSpPr>
        <p:spPr>
          <a:xfrm>
            <a:off x="969264" y="3621024"/>
            <a:ext cx="4523080" cy="457200"/>
          </a:xfrm>
          <a:prstGeom prst="rect">
            <a:avLst/>
          </a:prstGeom>
          <a:noFill/>
          <a:ln/>
        </p:spPr>
        <p:txBody>
          <a:bodyPr wrap="square" lIns="0" tIns="0" rIns="0" bIns="0" rtlCol="0" anchor="ctr"/>
          <a:lstStyle/>
          <a:p>
            <a:pPr indent="0" marL="0">
              <a:buNone/>
            </a:pPr>
            <a:r>
              <a:rPr lang="en-US" sz="1500" b="1" dirty="0">
                <a:solidFill>
                  <a:srgbClr val="C1485A"/>
                </a:solidFill>
                <a:latin typeface="Calibri" pitchFamily="34" charset="0"/>
                <a:ea typeface="Calibri" pitchFamily="34" charset="-122"/>
                <a:cs typeface="Calibri" pitchFamily="34" charset="-120"/>
              </a:rPr>
              <a:t>Both carry the same warning. Both destroy the liver.</a:t>
            </a:r>
            <a:endParaRPr lang="en-US" sz="1500" dirty="0"/>
          </a:p>
        </p:txBody>
      </p:sp>
      <p:sp>
        <p:nvSpPr>
          <p:cNvPr id="8" name="Shape 6"/>
          <p:cNvSpPr/>
          <p:nvPr/>
        </p:nvSpPr>
        <p:spPr>
          <a:xfrm>
            <a:off x="6370168" y="1920240"/>
            <a:ext cx="5181448" cy="2286000"/>
          </a:xfrm>
          <a:prstGeom prst="roundRect">
            <a:avLst>
              <a:gd name="adj" fmla="val 5600"/>
            </a:avLst>
          </a:prstGeom>
          <a:solidFill>
            <a:srgbClr val="FBEAEC"/>
          </a:solidFill>
          <a:ln w="19050">
            <a:solidFill>
              <a:srgbClr val="C1485A"/>
            </a:solidFill>
            <a:prstDash val="solid"/>
          </a:ln>
        </p:spPr>
      </p:sp>
      <p:sp>
        <p:nvSpPr>
          <p:cNvPr id="9" name="Text 7"/>
          <p:cNvSpPr txBox="1"/>
          <p:nvPr/>
        </p:nvSpPr>
        <p:spPr>
          <a:xfrm>
            <a:off x="6699352" y="2176272"/>
            <a:ext cx="4523080" cy="365760"/>
          </a:xfrm>
          <a:prstGeom prst="rect">
            <a:avLst/>
          </a:prstGeom>
          <a:noFill/>
          <a:ln/>
        </p:spPr>
        <p:txBody>
          <a:bodyPr wrap="square" lIns="0" tIns="0" rIns="0" bIns="0" rtlCol="0" anchor="ctr"/>
          <a:lstStyle/>
          <a:p>
            <a:pPr indent="0" marL="0">
              <a:buNone/>
            </a:pPr>
            <a:r>
              <a:rPr lang="en-US" sz="1700" dirty="0">
                <a:solidFill>
                  <a:srgbClr val="7C2A38"/>
                </a:solidFill>
                <a:latin typeface="Cambria" pitchFamily="34" charset="0"/>
                <a:ea typeface="Cambria" pitchFamily="34" charset="-122"/>
                <a:cs typeface="Cambria" pitchFamily="34" charset="-120"/>
              </a:rPr>
              <a:t>So the organ is predictable</a:t>
            </a:r>
            <a:endParaRPr lang="en-US" sz="1700" dirty="0"/>
          </a:p>
        </p:txBody>
      </p:sp>
      <p:sp>
        <p:nvSpPr>
          <p:cNvPr id="10" name="Text 8"/>
          <p:cNvSpPr txBox="1"/>
          <p:nvPr/>
        </p:nvSpPr>
        <p:spPr>
          <a:xfrm>
            <a:off x="6699352" y="2633472"/>
            <a:ext cx="4523080" cy="914400"/>
          </a:xfrm>
          <a:prstGeom prst="rect">
            <a:avLst/>
          </a:prstGeom>
          <a:noFill/>
          <a:ln/>
        </p:spPr>
        <p:txBody>
          <a:bodyPr wrap="square" lIns="0" tIns="0" rIns="0" bIns="0" rtlCol="0" anchor="t"/>
          <a:lstStyle/>
          <a:p>
            <a:pPr indent="0" marL="0">
              <a:lnSpc>
                <a:spcPct val="118000"/>
              </a:lnSpc>
              <a:buNone/>
            </a:pPr>
            <a:r>
              <a:rPr lang="en-US" sz="1400" dirty="0">
                <a:solidFill>
                  <a:srgbClr val="4B5058"/>
                </a:solidFill>
                <a:latin typeface="Calibri" pitchFamily="34" charset="0"/>
                <a:ea typeface="Calibri" pitchFamily="34" charset="-122"/>
                <a:cs typeface="Calibri" pitchFamily="34" charset="-120"/>
              </a:rPr>
              <a:t>If you know the warhead, you can name the organ before anyone is dosed. Change the warhead and the map moves with it, every time.</a:t>
            </a:r>
            <a:endParaRPr lang="en-US" sz="1400" dirty="0"/>
          </a:p>
        </p:txBody>
      </p:sp>
      <p:sp>
        <p:nvSpPr>
          <p:cNvPr id="11" name="Text 9"/>
          <p:cNvSpPr txBox="1"/>
          <p:nvPr/>
        </p:nvSpPr>
        <p:spPr>
          <a:xfrm>
            <a:off x="6699352" y="3621024"/>
            <a:ext cx="4523080" cy="457200"/>
          </a:xfrm>
          <a:prstGeom prst="rect">
            <a:avLst/>
          </a:prstGeom>
          <a:noFill/>
          <a:ln/>
        </p:spPr>
        <p:txBody>
          <a:bodyPr wrap="square" lIns="0" tIns="0" rIns="0" bIns="0" rtlCol="0" anchor="ctr"/>
          <a:lstStyle/>
          <a:p>
            <a:pPr indent="0" marL="0">
              <a:buNone/>
            </a:pPr>
            <a:r>
              <a:rPr lang="en-US" sz="1500" b="1" dirty="0">
                <a:solidFill>
                  <a:srgbClr val="7C2A38"/>
                </a:solidFill>
                <a:latin typeface="Calibri" pitchFamily="34" charset="0"/>
                <a:ea typeface="Calibri" pitchFamily="34" charset="-122"/>
                <a:cs typeface="Calibri" pitchFamily="34" charset="-120"/>
              </a:rPr>
              <a:t>That is the pattern we learn from.</a:t>
            </a:r>
            <a:endParaRPr lang="en-US" sz="1500" dirty="0"/>
          </a:p>
        </p:txBody>
      </p:sp>
      <p:sp>
        <p:nvSpPr>
          <p:cNvPr id="12" name="Shape 10"/>
          <p:cNvSpPr/>
          <p:nvPr/>
        </p:nvSpPr>
        <p:spPr>
          <a:xfrm>
            <a:off x="640080" y="4535424"/>
            <a:ext cx="10911535" cy="859536"/>
          </a:xfrm>
          <a:prstGeom prst="roundRect">
            <a:avLst>
              <a:gd name="adj" fmla="val 14894"/>
            </a:avLst>
          </a:prstGeom>
          <a:solidFill>
            <a:srgbClr val="F4F2EC"/>
          </a:solidFill>
          <a:ln/>
        </p:spPr>
      </p:sp>
      <p:sp>
        <p:nvSpPr>
          <p:cNvPr id="13" name="Text 11"/>
          <p:cNvSpPr txBox="1"/>
          <p:nvPr/>
        </p:nvSpPr>
        <p:spPr>
          <a:xfrm>
            <a:off x="969264" y="4535424"/>
            <a:ext cx="10253167" cy="859536"/>
          </a:xfrm>
          <a:prstGeom prst="rect">
            <a:avLst/>
          </a:prstGeom>
          <a:noFill/>
          <a:ln/>
        </p:spPr>
        <p:txBody>
          <a:bodyPr wrap="square" lIns="0" tIns="0" rIns="0" bIns="0" rtlCol="0" anchor="ctr"/>
          <a:lstStyle/>
          <a:p>
            <a:pPr indent="0" marL="0">
              <a:buNone/>
            </a:pPr>
            <a:r>
              <a:rPr lang="en-US" sz="1500" dirty="0">
                <a:solidFill>
                  <a:srgbClr val="181A1E"/>
                </a:solidFill>
                <a:latin typeface="Cambria" pitchFamily="34" charset="0"/>
                <a:ea typeface="Cambria" pitchFamily="34" charset="-122"/>
                <a:cs typeface="Cambria" pitchFamily="34" charset="-120"/>
              </a:rPr>
              <a:t>Everyone else returns a score between zero and one. We return an organ and a reason, which a scientist can agree or disagree with in five seconds.</a:t>
            </a:r>
            <a:endParaRPr lang="en-US" sz="1500" dirty="0"/>
          </a:p>
        </p:txBody>
      </p:sp>
      <p:sp>
        <p:nvSpPr>
          <p:cNvPr id="14" name="Text 12"/>
          <p:cNvSpPr txBox="1"/>
          <p:nvPr/>
        </p:nvSpPr>
        <p:spPr>
          <a:xfrm>
            <a:off x="10637215" y="6437376"/>
            <a:ext cx="914400" cy="219456"/>
          </a:xfrm>
          <a:prstGeom prst="rect">
            <a:avLst/>
          </a:prstGeom>
          <a:noFill/>
          <a:ln/>
        </p:spPr>
        <p:txBody>
          <a:bodyPr wrap="square" lIns="0" tIns="0" rIns="0" bIns="0" rtlCol="0" anchor="ctr"/>
          <a:lstStyle/>
          <a:p>
            <a:pPr algn="r" indent="0" marL="0">
              <a:buNone/>
            </a:pPr>
            <a:r>
              <a:rPr lang="en-US" sz="900" dirty="0">
                <a:solidFill>
                  <a:srgbClr val="82868E"/>
                </a:solidFill>
                <a:latin typeface="Courier New" pitchFamily="34" charset="0"/>
                <a:ea typeface="Courier New" pitchFamily="34" charset="-122"/>
                <a:cs typeface="Courier New"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8"/>
        </a:solidFill>
      </p:bgPr>
    </p:bg>
    <p:spTree>
      <p:nvGrpSpPr>
        <p:cNvPr id="1" name=""/>
        <p:cNvGrpSpPr/>
        <p:nvPr/>
      </p:nvGrpSpPr>
      <p:grpSpPr>
        <a:xfrm>
          <a:off x="0" y="0"/>
          <a:ext cx="0" cy="0"/>
          <a:chOff x="0" y="0"/>
          <a:chExt cx="0" cy="0"/>
        </a:xfrm>
      </p:grpSpPr>
      <p:sp>
        <p:nvSpPr>
          <p:cNvPr id="2" name="Text 0"/>
          <p:cNvSpPr txBox="1"/>
          <p:nvPr/>
        </p:nvSpPr>
        <p:spPr>
          <a:xfrm>
            <a:off x="640080" y="640080"/>
            <a:ext cx="10911535" cy="237744"/>
          </a:xfrm>
          <a:prstGeom prst="rect">
            <a:avLst/>
          </a:prstGeom>
          <a:noFill/>
          <a:ln/>
        </p:spPr>
        <p:txBody>
          <a:bodyPr wrap="square" lIns="0" tIns="0" rIns="0" bIns="0" rtlCol="0" anchor="ctr"/>
          <a:lstStyle/>
          <a:p>
            <a:pPr indent="0" marL="0">
              <a:buNone/>
            </a:pPr>
            <a:r>
              <a:rPr lang="en-US" sz="1000" spc="180" kern="0" dirty="0">
                <a:solidFill>
                  <a:srgbClr val="C1485A"/>
                </a:solidFill>
                <a:latin typeface="Courier New" pitchFamily="34" charset="0"/>
                <a:ea typeface="Courier New" pitchFamily="34" charset="-122"/>
                <a:cs typeface="Courier New" pitchFamily="34" charset="-120"/>
              </a:rPr>
              <a:t>MARKET</a:t>
            </a:r>
            <a:endParaRPr lang="en-US" sz="1000" dirty="0"/>
          </a:p>
        </p:txBody>
      </p:sp>
      <p:sp>
        <p:nvSpPr>
          <p:cNvPr id="3" name="Text 1"/>
          <p:cNvSpPr txBox="1"/>
          <p:nvPr/>
        </p:nvSpPr>
        <p:spPr>
          <a:xfrm>
            <a:off x="640080" y="987552"/>
            <a:ext cx="10911535" cy="658368"/>
          </a:xfrm>
          <a:prstGeom prst="rect">
            <a:avLst/>
          </a:prstGeom>
          <a:noFill/>
          <a:ln/>
        </p:spPr>
        <p:txBody>
          <a:bodyPr wrap="square" lIns="0" tIns="0" rIns="0" bIns="0" rtlCol="0" anchor="t"/>
          <a:lstStyle/>
          <a:p>
            <a:pPr indent="0" marL="0">
              <a:lnSpc>
                <a:spcPct val="98000"/>
              </a:lnSpc>
              <a:buNone/>
            </a:pPr>
            <a:r>
              <a:rPr lang="en-US" sz="3600" dirty="0">
                <a:solidFill>
                  <a:srgbClr val="181A1E"/>
                </a:solidFill>
                <a:latin typeface="Cambria" pitchFamily="34" charset="0"/>
                <a:ea typeface="Cambria" pitchFamily="34" charset="-122"/>
                <a:cs typeface="Cambria" pitchFamily="34" charset="-120"/>
              </a:rPr>
              <a:t>The money is already being spent. Badly.</a:t>
            </a:r>
            <a:endParaRPr lang="en-US" sz="3600" dirty="0"/>
          </a:p>
        </p:txBody>
      </p:sp>
      <p:sp>
        <p:nvSpPr>
          <p:cNvPr id="4" name="Shape 2"/>
          <p:cNvSpPr/>
          <p:nvPr/>
        </p:nvSpPr>
        <p:spPr>
          <a:xfrm>
            <a:off x="640080" y="1920240"/>
            <a:ext cx="2522144" cy="2194560"/>
          </a:xfrm>
          <a:prstGeom prst="roundRect">
            <a:avLst>
              <a:gd name="adj" fmla="val 5833"/>
            </a:avLst>
          </a:prstGeom>
          <a:solidFill>
            <a:srgbClr val="FFFFFF"/>
          </a:solidFill>
          <a:ln w="19050">
            <a:solidFill>
              <a:srgbClr val="E4E1D8"/>
            </a:solidFill>
            <a:prstDash val="solid"/>
          </a:ln>
        </p:spPr>
      </p:sp>
      <p:sp>
        <p:nvSpPr>
          <p:cNvPr id="5" name="Text 3"/>
          <p:cNvSpPr txBox="1"/>
          <p:nvPr/>
        </p:nvSpPr>
        <p:spPr>
          <a:xfrm>
            <a:off x="932688" y="2194560"/>
            <a:ext cx="1936928" cy="731520"/>
          </a:xfrm>
          <a:prstGeom prst="rect">
            <a:avLst/>
          </a:prstGeom>
          <a:noFill/>
          <a:ln/>
        </p:spPr>
        <p:txBody>
          <a:bodyPr wrap="square" lIns="0" tIns="0" rIns="0" bIns="0" rtlCol="0" anchor="ctr"/>
          <a:lstStyle/>
          <a:p>
            <a:pPr indent="0" marL="0">
              <a:buNone/>
            </a:pPr>
            <a:r>
              <a:rPr lang="en-US" sz="3400" dirty="0">
                <a:solidFill>
                  <a:srgbClr val="181A1E"/>
                </a:solidFill>
                <a:latin typeface="Cambria" pitchFamily="34" charset="0"/>
                <a:ea typeface="Cambria" pitchFamily="34" charset="-122"/>
                <a:cs typeface="Cambria" pitchFamily="34" charset="-120"/>
              </a:rPr>
              <a:t>€13bn</a:t>
            </a:r>
            <a:endParaRPr lang="en-US" sz="3400" dirty="0"/>
          </a:p>
        </p:txBody>
      </p:sp>
      <p:sp>
        <p:nvSpPr>
          <p:cNvPr id="6" name="Text 4"/>
          <p:cNvSpPr txBox="1"/>
          <p:nvPr/>
        </p:nvSpPr>
        <p:spPr>
          <a:xfrm>
            <a:off x="932688" y="2980944"/>
            <a:ext cx="1936928" cy="914400"/>
          </a:xfrm>
          <a:prstGeom prst="rect">
            <a:avLst/>
          </a:prstGeom>
          <a:noFill/>
          <a:ln/>
        </p:spPr>
        <p:txBody>
          <a:bodyPr wrap="square" lIns="0" tIns="0" rIns="0" bIns="0" rtlCol="0" anchor="t"/>
          <a:lstStyle/>
          <a:p>
            <a:pPr indent="0" marL="0">
              <a:lnSpc>
                <a:spcPct val="118000"/>
              </a:lnSpc>
              <a:buNone/>
            </a:pPr>
            <a:r>
              <a:rPr lang="en-US" sz="1300" dirty="0">
                <a:solidFill>
                  <a:srgbClr val="4B5058"/>
                </a:solidFill>
                <a:latin typeface="Calibri" pitchFamily="34" charset="0"/>
                <a:ea typeface="Calibri" pitchFamily="34" charset="-122"/>
                <a:cs typeface="Calibri" pitchFamily="34" charset="-120"/>
              </a:rPr>
              <a:t>spent every year on laboratory toxicity testing worldwide</a:t>
            </a:r>
            <a:endParaRPr lang="en-US" sz="1300" dirty="0"/>
          </a:p>
        </p:txBody>
      </p:sp>
      <p:sp>
        <p:nvSpPr>
          <p:cNvPr id="7" name="Shape 5"/>
          <p:cNvSpPr/>
          <p:nvPr/>
        </p:nvSpPr>
        <p:spPr>
          <a:xfrm>
            <a:off x="3436544" y="1920240"/>
            <a:ext cx="2522144" cy="2194560"/>
          </a:xfrm>
          <a:prstGeom prst="roundRect">
            <a:avLst>
              <a:gd name="adj" fmla="val 5833"/>
            </a:avLst>
          </a:prstGeom>
          <a:solidFill>
            <a:srgbClr val="FFFFFF"/>
          </a:solidFill>
          <a:ln w="19050">
            <a:solidFill>
              <a:srgbClr val="E4E1D8"/>
            </a:solidFill>
            <a:prstDash val="solid"/>
          </a:ln>
        </p:spPr>
      </p:sp>
      <p:sp>
        <p:nvSpPr>
          <p:cNvPr id="8" name="Text 6"/>
          <p:cNvSpPr txBox="1"/>
          <p:nvPr/>
        </p:nvSpPr>
        <p:spPr>
          <a:xfrm>
            <a:off x="3729152" y="2194560"/>
            <a:ext cx="1936928" cy="731520"/>
          </a:xfrm>
          <a:prstGeom prst="rect">
            <a:avLst/>
          </a:prstGeom>
          <a:noFill/>
          <a:ln/>
        </p:spPr>
        <p:txBody>
          <a:bodyPr wrap="square" lIns="0" tIns="0" rIns="0" bIns="0" rtlCol="0" anchor="ctr"/>
          <a:lstStyle/>
          <a:p>
            <a:pPr indent="0" marL="0">
              <a:buNone/>
            </a:pPr>
            <a:r>
              <a:rPr lang="en-US" sz="3400" dirty="0">
                <a:solidFill>
                  <a:srgbClr val="181A1E"/>
                </a:solidFill>
                <a:latin typeface="Cambria" pitchFamily="34" charset="0"/>
                <a:ea typeface="Cambria" pitchFamily="34" charset="-122"/>
                <a:cs typeface="Cambria" pitchFamily="34" charset="-120"/>
              </a:rPr>
              <a:t>€2M</a:t>
            </a:r>
            <a:endParaRPr lang="en-US" sz="3400" dirty="0"/>
          </a:p>
        </p:txBody>
      </p:sp>
      <p:sp>
        <p:nvSpPr>
          <p:cNvPr id="9" name="Text 7"/>
          <p:cNvSpPr txBox="1"/>
          <p:nvPr/>
        </p:nvSpPr>
        <p:spPr>
          <a:xfrm>
            <a:off x="3729152" y="2980944"/>
            <a:ext cx="1936928" cy="914400"/>
          </a:xfrm>
          <a:prstGeom prst="rect">
            <a:avLst/>
          </a:prstGeom>
          <a:noFill/>
          <a:ln/>
        </p:spPr>
        <p:txBody>
          <a:bodyPr wrap="square" lIns="0" tIns="0" rIns="0" bIns="0" rtlCol="0" anchor="t"/>
          <a:lstStyle/>
          <a:p>
            <a:pPr indent="0" marL="0">
              <a:lnSpc>
                <a:spcPct val="118000"/>
              </a:lnSpc>
              <a:buNone/>
            </a:pPr>
            <a:r>
              <a:rPr lang="en-US" sz="1300" dirty="0">
                <a:solidFill>
                  <a:srgbClr val="4B5058"/>
                </a:solidFill>
                <a:latin typeface="Calibri" pitchFamily="34" charset="0"/>
                <a:ea typeface="Calibri" pitchFamily="34" charset="-122"/>
                <a:cs typeface="Calibri" pitchFamily="34" charset="-120"/>
              </a:rPr>
              <a:t>is what one safety package costs, for one drug, before it ever reaches a person</a:t>
            </a:r>
            <a:endParaRPr lang="en-US" sz="1300" dirty="0"/>
          </a:p>
        </p:txBody>
      </p:sp>
      <p:sp>
        <p:nvSpPr>
          <p:cNvPr id="10" name="Shape 8"/>
          <p:cNvSpPr/>
          <p:nvPr/>
        </p:nvSpPr>
        <p:spPr>
          <a:xfrm>
            <a:off x="6233008" y="1920240"/>
            <a:ext cx="2522144" cy="2194560"/>
          </a:xfrm>
          <a:prstGeom prst="roundRect">
            <a:avLst>
              <a:gd name="adj" fmla="val 5833"/>
            </a:avLst>
          </a:prstGeom>
          <a:solidFill>
            <a:srgbClr val="FFFFFF"/>
          </a:solidFill>
          <a:ln w="19050">
            <a:solidFill>
              <a:srgbClr val="E4E1D8"/>
            </a:solidFill>
            <a:prstDash val="solid"/>
          </a:ln>
        </p:spPr>
      </p:sp>
      <p:sp>
        <p:nvSpPr>
          <p:cNvPr id="11" name="Text 9"/>
          <p:cNvSpPr txBox="1"/>
          <p:nvPr/>
        </p:nvSpPr>
        <p:spPr>
          <a:xfrm>
            <a:off x="6525616" y="2194560"/>
            <a:ext cx="1936928" cy="731520"/>
          </a:xfrm>
          <a:prstGeom prst="rect">
            <a:avLst/>
          </a:prstGeom>
          <a:noFill/>
          <a:ln/>
        </p:spPr>
        <p:txBody>
          <a:bodyPr wrap="square" lIns="0" tIns="0" rIns="0" bIns="0" rtlCol="0" anchor="ctr"/>
          <a:lstStyle/>
          <a:p>
            <a:pPr indent="0" marL="0">
              <a:buNone/>
            </a:pPr>
            <a:r>
              <a:rPr lang="en-US" sz="3400" dirty="0">
                <a:solidFill>
                  <a:srgbClr val="181A1E"/>
                </a:solidFill>
                <a:latin typeface="Cambria" pitchFamily="34" charset="0"/>
                <a:ea typeface="Cambria" pitchFamily="34" charset="-122"/>
                <a:cs typeface="Cambria" pitchFamily="34" charset="-120"/>
              </a:rPr>
              <a:t>1,300+</a:t>
            </a:r>
            <a:endParaRPr lang="en-US" sz="3400" dirty="0"/>
          </a:p>
        </p:txBody>
      </p:sp>
      <p:sp>
        <p:nvSpPr>
          <p:cNvPr id="12" name="Text 10"/>
          <p:cNvSpPr txBox="1"/>
          <p:nvPr/>
        </p:nvSpPr>
        <p:spPr>
          <a:xfrm>
            <a:off x="6525616" y="2980944"/>
            <a:ext cx="1936928" cy="914400"/>
          </a:xfrm>
          <a:prstGeom prst="rect">
            <a:avLst/>
          </a:prstGeom>
          <a:noFill/>
          <a:ln/>
        </p:spPr>
        <p:txBody>
          <a:bodyPr wrap="square" lIns="0" tIns="0" rIns="0" bIns="0" rtlCol="0" anchor="t"/>
          <a:lstStyle/>
          <a:p>
            <a:pPr indent="0" marL="0">
              <a:lnSpc>
                <a:spcPct val="118000"/>
              </a:lnSpc>
              <a:buNone/>
            </a:pPr>
            <a:r>
              <a:rPr lang="en-US" sz="1300" dirty="0">
                <a:solidFill>
                  <a:srgbClr val="4B5058"/>
                </a:solidFill>
                <a:latin typeface="Calibri" pitchFamily="34" charset="0"/>
                <a:ea typeface="Calibri" pitchFamily="34" charset="-122"/>
                <a:cs typeface="Calibri" pitchFamily="34" charset="-120"/>
              </a:rPr>
              <a:t>drugs already have their liver risk catalogued in one public database alone</a:t>
            </a:r>
            <a:endParaRPr lang="en-US" sz="1300" dirty="0"/>
          </a:p>
        </p:txBody>
      </p:sp>
      <p:sp>
        <p:nvSpPr>
          <p:cNvPr id="13" name="Shape 11"/>
          <p:cNvSpPr/>
          <p:nvPr/>
        </p:nvSpPr>
        <p:spPr>
          <a:xfrm>
            <a:off x="9029471" y="1920240"/>
            <a:ext cx="2522144" cy="2194560"/>
          </a:xfrm>
          <a:prstGeom prst="roundRect">
            <a:avLst>
              <a:gd name="adj" fmla="val 5833"/>
            </a:avLst>
          </a:prstGeom>
          <a:solidFill>
            <a:srgbClr val="FBEAEC"/>
          </a:solidFill>
          <a:ln w="19050">
            <a:solidFill>
              <a:srgbClr val="C1485A"/>
            </a:solidFill>
            <a:prstDash val="solid"/>
          </a:ln>
        </p:spPr>
      </p:sp>
      <p:sp>
        <p:nvSpPr>
          <p:cNvPr id="14" name="Text 12"/>
          <p:cNvSpPr txBox="1"/>
          <p:nvPr/>
        </p:nvSpPr>
        <p:spPr>
          <a:xfrm>
            <a:off x="9322079" y="2194560"/>
            <a:ext cx="1936928" cy="731520"/>
          </a:xfrm>
          <a:prstGeom prst="rect">
            <a:avLst/>
          </a:prstGeom>
          <a:noFill/>
          <a:ln/>
        </p:spPr>
        <p:txBody>
          <a:bodyPr wrap="square" lIns="0" tIns="0" rIns="0" bIns="0" rtlCol="0" anchor="ctr"/>
          <a:lstStyle/>
          <a:p>
            <a:pPr indent="0" marL="0">
              <a:buNone/>
            </a:pPr>
            <a:r>
              <a:rPr lang="en-US" sz="3400" dirty="0">
                <a:solidFill>
                  <a:srgbClr val="7C2A38"/>
                </a:solidFill>
                <a:latin typeface="Cambria" pitchFamily="34" charset="0"/>
                <a:ea typeface="Cambria" pitchFamily="34" charset="-122"/>
                <a:cs typeface="Cambria" pitchFamily="34" charset="-120"/>
              </a:rPr>
              <a:t>€100</a:t>
            </a:r>
            <a:endParaRPr lang="en-US" sz="3400" dirty="0"/>
          </a:p>
        </p:txBody>
      </p:sp>
      <p:sp>
        <p:nvSpPr>
          <p:cNvPr id="15" name="Text 13"/>
          <p:cNvSpPr txBox="1"/>
          <p:nvPr/>
        </p:nvSpPr>
        <p:spPr>
          <a:xfrm>
            <a:off x="9322079" y="2980944"/>
            <a:ext cx="1936928" cy="914400"/>
          </a:xfrm>
          <a:prstGeom prst="rect">
            <a:avLst/>
          </a:prstGeom>
          <a:noFill/>
          <a:ln/>
        </p:spPr>
        <p:txBody>
          <a:bodyPr wrap="square" lIns="0" tIns="0" rIns="0" bIns="0" rtlCol="0" anchor="t"/>
          <a:lstStyle/>
          <a:p>
            <a:pPr indent="0" marL="0">
              <a:lnSpc>
                <a:spcPct val="118000"/>
              </a:lnSpc>
              <a:buNone/>
            </a:pPr>
            <a:r>
              <a:rPr lang="en-US" sz="1300" dirty="0">
                <a:solidFill>
                  <a:srgbClr val="4B5058"/>
                </a:solidFill>
                <a:latin typeface="Calibri" pitchFamily="34" charset="0"/>
                <a:ea typeface="Calibri" pitchFamily="34" charset="-122"/>
                <a:cs typeface="Calibri" pitchFamily="34" charset="-120"/>
              </a:rPr>
              <a:t>is what we charge for one answer today</a:t>
            </a:r>
            <a:endParaRPr lang="en-US" sz="1300" dirty="0"/>
          </a:p>
        </p:txBody>
      </p:sp>
      <p:sp>
        <p:nvSpPr>
          <p:cNvPr id="16" name="Text 14"/>
          <p:cNvSpPr txBox="1"/>
          <p:nvPr/>
        </p:nvSpPr>
        <p:spPr>
          <a:xfrm>
            <a:off x="640080" y="4443984"/>
            <a:ext cx="10911535" cy="457200"/>
          </a:xfrm>
          <a:prstGeom prst="rect">
            <a:avLst/>
          </a:prstGeom>
          <a:noFill/>
          <a:ln/>
        </p:spPr>
        <p:txBody>
          <a:bodyPr wrap="square" lIns="0" tIns="0" rIns="0" bIns="0" rtlCol="0" anchor="ctr"/>
          <a:lstStyle/>
          <a:p>
            <a:pPr indent="0" marL="0">
              <a:lnSpc>
                <a:spcPct val="116000"/>
              </a:lnSpc>
              <a:buNone/>
            </a:pPr>
            <a:r>
              <a:rPr lang="en-US" sz="1600" i="1" dirty="0">
                <a:solidFill>
                  <a:srgbClr val="181A1E"/>
                </a:solidFill>
                <a:latin typeface="Cambria" pitchFamily="34" charset="0"/>
                <a:ea typeface="Cambria" pitchFamily="34" charset="-122"/>
                <a:cs typeface="Cambria" pitchFamily="34" charset="-120"/>
              </a:rPr>
              <a:t>A team choosing between four candidate drugs is about to spend two million euros to find out. The answer should not cost more than the question.</a:t>
            </a:r>
            <a:endParaRPr lang="en-US" sz="1600" dirty="0"/>
          </a:p>
        </p:txBody>
      </p:sp>
      <p:sp>
        <p:nvSpPr>
          <p:cNvPr id="17" name="Text 15"/>
          <p:cNvSpPr txBox="1"/>
          <p:nvPr/>
        </p:nvSpPr>
        <p:spPr>
          <a:xfrm>
            <a:off x="640080" y="6144768"/>
            <a:ext cx="9722815" cy="274320"/>
          </a:xfrm>
          <a:prstGeom prst="rect">
            <a:avLst/>
          </a:prstGeom>
          <a:noFill/>
          <a:ln/>
        </p:spPr>
        <p:txBody>
          <a:bodyPr wrap="square" lIns="0" tIns="0" rIns="0" bIns="0" rtlCol="0" anchor="ctr"/>
          <a:lstStyle/>
          <a:p>
            <a:pPr indent="0" marL="0">
              <a:buNone/>
            </a:pPr>
            <a:r>
              <a:rPr lang="en-US" sz="950" i="1" dirty="0">
                <a:solidFill>
                  <a:srgbClr val="82868E"/>
                </a:solidFill>
                <a:latin typeface="Calibri" pitchFamily="34" charset="0"/>
                <a:ea typeface="Calibri" pitchFamily="34" charset="-122"/>
                <a:cs typeface="Calibri" pitchFamily="34" charset="-120"/>
              </a:rPr>
              <a:t>In-vitro toxicology testing market, Precedence Research · USAspending contract records · FDA DILIrank</a:t>
            </a:r>
            <a:endParaRPr lang="en-US" sz="950" dirty="0"/>
          </a:p>
        </p:txBody>
      </p:sp>
      <p:sp>
        <p:nvSpPr>
          <p:cNvPr id="18" name="Text 16"/>
          <p:cNvSpPr txBox="1"/>
          <p:nvPr/>
        </p:nvSpPr>
        <p:spPr>
          <a:xfrm>
            <a:off x="10637215" y="6437376"/>
            <a:ext cx="914400" cy="219456"/>
          </a:xfrm>
          <a:prstGeom prst="rect">
            <a:avLst/>
          </a:prstGeom>
          <a:noFill/>
          <a:ln/>
        </p:spPr>
        <p:txBody>
          <a:bodyPr wrap="square" lIns="0" tIns="0" rIns="0" bIns="0" rtlCol="0" anchor="ctr"/>
          <a:lstStyle/>
          <a:p>
            <a:pPr algn="r" indent="0" marL="0">
              <a:buNone/>
            </a:pPr>
            <a:r>
              <a:rPr lang="en-US" sz="900" dirty="0">
                <a:solidFill>
                  <a:srgbClr val="82868E"/>
                </a:solidFill>
                <a:latin typeface="Courier New" pitchFamily="34" charset="0"/>
                <a:ea typeface="Courier New" pitchFamily="34" charset="-122"/>
                <a:cs typeface="Courier New"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BF8"/>
        </a:solidFill>
      </p:bgPr>
    </p:bg>
    <p:spTree>
      <p:nvGrpSpPr>
        <p:cNvPr id="1" name=""/>
        <p:cNvGrpSpPr/>
        <p:nvPr/>
      </p:nvGrpSpPr>
      <p:grpSpPr>
        <a:xfrm>
          <a:off x="0" y="0"/>
          <a:ext cx="0" cy="0"/>
          <a:chOff x="0" y="0"/>
          <a:chExt cx="0" cy="0"/>
        </a:xfrm>
      </p:grpSpPr>
      <p:sp>
        <p:nvSpPr>
          <p:cNvPr id="2" name="Text 0"/>
          <p:cNvSpPr txBox="1"/>
          <p:nvPr/>
        </p:nvSpPr>
        <p:spPr>
          <a:xfrm>
            <a:off x="640080" y="640080"/>
            <a:ext cx="10911535" cy="237744"/>
          </a:xfrm>
          <a:prstGeom prst="rect">
            <a:avLst/>
          </a:prstGeom>
          <a:noFill/>
          <a:ln/>
        </p:spPr>
        <p:txBody>
          <a:bodyPr wrap="square" lIns="0" tIns="0" rIns="0" bIns="0" rtlCol="0" anchor="ctr"/>
          <a:lstStyle/>
          <a:p>
            <a:pPr indent="0" marL="0">
              <a:buNone/>
            </a:pPr>
            <a:r>
              <a:rPr lang="en-US" sz="1000" spc="180" kern="0" dirty="0">
                <a:solidFill>
                  <a:srgbClr val="C1485A"/>
                </a:solidFill>
                <a:latin typeface="Courier New" pitchFamily="34" charset="0"/>
                <a:ea typeface="Courier New" pitchFamily="34" charset="-122"/>
                <a:cs typeface="Courier New" pitchFamily="34" charset="-120"/>
              </a:rPr>
              <a:t>COMPETITION</a:t>
            </a:r>
            <a:endParaRPr lang="en-US" sz="1000" dirty="0"/>
          </a:p>
        </p:txBody>
      </p:sp>
      <p:sp>
        <p:nvSpPr>
          <p:cNvPr id="3" name="Text 1"/>
          <p:cNvSpPr txBox="1"/>
          <p:nvPr/>
        </p:nvSpPr>
        <p:spPr>
          <a:xfrm>
            <a:off x="640080" y="987552"/>
            <a:ext cx="10911535" cy="658368"/>
          </a:xfrm>
          <a:prstGeom prst="rect">
            <a:avLst/>
          </a:prstGeom>
          <a:noFill/>
          <a:ln/>
        </p:spPr>
        <p:txBody>
          <a:bodyPr wrap="square" lIns="0" tIns="0" rIns="0" bIns="0" rtlCol="0" anchor="t"/>
          <a:lstStyle/>
          <a:p>
            <a:pPr indent="0" marL="0">
              <a:lnSpc>
                <a:spcPct val="98000"/>
              </a:lnSpc>
              <a:buNone/>
            </a:pPr>
            <a:r>
              <a:rPr lang="en-US" sz="3600" dirty="0">
                <a:solidFill>
                  <a:srgbClr val="181A1E"/>
                </a:solidFill>
                <a:latin typeface="Cambria" pitchFamily="34" charset="0"/>
                <a:ea typeface="Cambria" pitchFamily="34" charset="-122"/>
                <a:cs typeface="Cambria" pitchFamily="34" charset="-120"/>
              </a:rPr>
              <a:t>Everyone answers a different question.</a:t>
            </a:r>
            <a:endParaRPr lang="en-US" sz="3600" dirty="0"/>
          </a:p>
        </p:txBody>
      </p:sp>
      <p:sp>
        <p:nvSpPr>
          <p:cNvPr id="4" name="Shape 2"/>
          <p:cNvSpPr/>
          <p:nvPr/>
        </p:nvSpPr>
        <p:spPr>
          <a:xfrm>
            <a:off x="640080" y="1920240"/>
            <a:ext cx="10911535" cy="713232"/>
          </a:xfrm>
          <a:prstGeom prst="roundRect">
            <a:avLst>
              <a:gd name="adj" fmla="val 17949"/>
            </a:avLst>
          </a:prstGeom>
          <a:solidFill>
            <a:srgbClr val="FFFFFF"/>
          </a:solidFill>
          <a:ln w="19050">
            <a:solidFill>
              <a:srgbClr val="E4E1D8"/>
            </a:solidFill>
            <a:prstDash val="solid"/>
          </a:ln>
        </p:spPr>
      </p:sp>
      <p:sp>
        <p:nvSpPr>
          <p:cNvPr id="5" name="Text 3"/>
          <p:cNvSpPr txBox="1"/>
          <p:nvPr/>
        </p:nvSpPr>
        <p:spPr>
          <a:xfrm>
            <a:off x="950976" y="1920240"/>
            <a:ext cx="3017520" cy="713232"/>
          </a:xfrm>
          <a:prstGeom prst="rect">
            <a:avLst/>
          </a:prstGeom>
          <a:noFill/>
          <a:ln/>
        </p:spPr>
        <p:txBody>
          <a:bodyPr wrap="square" lIns="0" tIns="0" rIns="0" bIns="0" rtlCol="0" anchor="ctr"/>
          <a:lstStyle/>
          <a:p>
            <a:pPr indent="0" marL="0">
              <a:buNone/>
            </a:pPr>
            <a:r>
              <a:rPr lang="en-US" sz="1500" b="1" dirty="0">
                <a:solidFill>
                  <a:srgbClr val="181A1E"/>
                </a:solidFill>
                <a:latin typeface="Calibri" pitchFamily="34" charset="0"/>
                <a:ea typeface="Calibri" pitchFamily="34" charset="-122"/>
                <a:cs typeface="Calibri" pitchFamily="34" charset="-120"/>
              </a:rPr>
              <a:t>Animal studies</a:t>
            </a:r>
            <a:endParaRPr lang="en-US" sz="1500" dirty="0"/>
          </a:p>
        </p:txBody>
      </p:sp>
      <p:sp>
        <p:nvSpPr>
          <p:cNvPr id="6" name="Text 4"/>
          <p:cNvSpPr txBox="1"/>
          <p:nvPr/>
        </p:nvSpPr>
        <p:spPr>
          <a:xfrm>
            <a:off x="4114800" y="1920240"/>
            <a:ext cx="5120640" cy="713232"/>
          </a:xfrm>
          <a:prstGeom prst="rect">
            <a:avLst/>
          </a:prstGeom>
          <a:noFill/>
          <a:ln/>
        </p:spPr>
        <p:txBody>
          <a:bodyPr wrap="square" lIns="0" tIns="0" rIns="0" bIns="0" rtlCol="0" anchor="ctr"/>
          <a:lstStyle/>
          <a:p>
            <a:pPr indent="0" marL="0">
              <a:buNone/>
            </a:pPr>
            <a:r>
              <a:rPr lang="en-US" sz="1350" dirty="0">
                <a:solidFill>
                  <a:srgbClr val="4B5058"/>
                </a:solidFill>
                <a:latin typeface="Calibri" pitchFamily="34" charset="0"/>
                <a:ea typeface="Calibri" pitchFamily="34" charset="-122"/>
                <a:cs typeface="Calibri" pitchFamily="34" charset="-120"/>
              </a:rPr>
              <a:t>The standard. Slow, expensive, and often wrong about humans.</a:t>
            </a:r>
            <a:endParaRPr lang="en-US" sz="1350" dirty="0"/>
          </a:p>
        </p:txBody>
      </p:sp>
      <p:sp>
        <p:nvSpPr>
          <p:cNvPr id="7" name="Text 5"/>
          <p:cNvSpPr txBox="1"/>
          <p:nvPr/>
        </p:nvSpPr>
        <p:spPr>
          <a:xfrm>
            <a:off x="9418320" y="1920240"/>
            <a:ext cx="1858975" cy="713232"/>
          </a:xfrm>
          <a:prstGeom prst="rect">
            <a:avLst/>
          </a:prstGeom>
          <a:noFill/>
          <a:ln/>
        </p:spPr>
        <p:txBody>
          <a:bodyPr wrap="square" lIns="0" tIns="0" rIns="0" bIns="0" rtlCol="0" anchor="ctr"/>
          <a:lstStyle/>
          <a:p>
            <a:pPr indent="0" marL="0">
              <a:buNone/>
            </a:pPr>
            <a:r>
              <a:rPr lang="en-US" sz="1300" i="1" dirty="0">
                <a:solidFill>
                  <a:srgbClr val="82868E"/>
                </a:solidFill>
                <a:latin typeface="Calibri" pitchFamily="34" charset="0"/>
                <a:ea typeface="Calibri" pitchFamily="34" charset="-122"/>
                <a:cs typeface="Calibri" pitchFamily="34" charset="-120"/>
              </a:rPr>
              <a:t>Months and millions</a:t>
            </a:r>
            <a:endParaRPr lang="en-US" sz="1300" dirty="0"/>
          </a:p>
        </p:txBody>
      </p:sp>
      <p:sp>
        <p:nvSpPr>
          <p:cNvPr id="8" name="Shape 6"/>
          <p:cNvSpPr/>
          <p:nvPr/>
        </p:nvSpPr>
        <p:spPr>
          <a:xfrm>
            <a:off x="640080" y="2761488"/>
            <a:ext cx="10911535" cy="713232"/>
          </a:xfrm>
          <a:prstGeom prst="roundRect">
            <a:avLst>
              <a:gd name="adj" fmla="val 17949"/>
            </a:avLst>
          </a:prstGeom>
          <a:solidFill>
            <a:srgbClr val="FFFFFF"/>
          </a:solidFill>
          <a:ln w="19050">
            <a:solidFill>
              <a:srgbClr val="E4E1D8"/>
            </a:solidFill>
            <a:prstDash val="solid"/>
          </a:ln>
        </p:spPr>
      </p:sp>
      <p:sp>
        <p:nvSpPr>
          <p:cNvPr id="9" name="Text 7"/>
          <p:cNvSpPr txBox="1"/>
          <p:nvPr/>
        </p:nvSpPr>
        <p:spPr>
          <a:xfrm>
            <a:off x="950976" y="2761488"/>
            <a:ext cx="3017520" cy="713232"/>
          </a:xfrm>
          <a:prstGeom prst="rect">
            <a:avLst/>
          </a:prstGeom>
          <a:noFill/>
          <a:ln/>
        </p:spPr>
        <p:txBody>
          <a:bodyPr wrap="square" lIns="0" tIns="0" rIns="0" bIns="0" rtlCol="0" anchor="ctr"/>
          <a:lstStyle/>
          <a:p>
            <a:pPr indent="0" marL="0">
              <a:buNone/>
            </a:pPr>
            <a:r>
              <a:rPr lang="en-US" sz="1500" b="1" dirty="0">
                <a:solidFill>
                  <a:srgbClr val="181A1E"/>
                </a:solidFill>
                <a:latin typeface="Calibri" pitchFamily="34" charset="0"/>
                <a:ea typeface="Calibri" pitchFamily="34" charset="-122"/>
                <a:cs typeface="Calibri" pitchFamily="34" charset="-120"/>
              </a:rPr>
              <a:t>Existing software</a:t>
            </a:r>
            <a:endParaRPr lang="en-US" sz="1500" dirty="0"/>
          </a:p>
        </p:txBody>
      </p:sp>
      <p:sp>
        <p:nvSpPr>
          <p:cNvPr id="10" name="Text 8"/>
          <p:cNvSpPr txBox="1"/>
          <p:nvPr/>
        </p:nvSpPr>
        <p:spPr>
          <a:xfrm>
            <a:off x="4114800" y="2761488"/>
            <a:ext cx="5120640" cy="713232"/>
          </a:xfrm>
          <a:prstGeom prst="rect">
            <a:avLst/>
          </a:prstGeom>
          <a:noFill/>
          <a:ln/>
        </p:spPr>
        <p:txBody>
          <a:bodyPr wrap="square" lIns="0" tIns="0" rIns="0" bIns="0" rtlCol="0" anchor="ctr"/>
          <a:lstStyle/>
          <a:p>
            <a:pPr indent="0" marL="0">
              <a:buNone/>
            </a:pPr>
            <a:r>
              <a:rPr lang="en-US" sz="1350" dirty="0">
                <a:solidFill>
                  <a:srgbClr val="4B5058"/>
                </a:solidFill>
                <a:latin typeface="Calibri" pitchFamily="34" charset="0"/>
                <a:ea typeface="Calibri" pitchFamily="34" charset="-122"/>
                <a:cs typeface="Calibri" pitchFamily="34" charset="-120"/>
              </a:rPr>
              <a:t>Returns a probability of toxicity. No organ, no reason, no next step.</a:t>
            </a:r>
            <a:endParaRPr lang="en-US" sz="1350" dirty="0"/>
          </a:p>
        </p:txBody>
      </p:sp>
      <p:sp>
        <p:nvSpPr>
          <p:cNvPr id="11" name="Text 9"/>
          <p:cNvSpPr txBox="1"/>
          <p:nvPr/>
        </p:nvSpPr>
        <p:spPr>
          <a:xfrm>
            <a:off x="9418320" y="2761488"/>
            <a:ext cx="1858975" cy="713232"/>
          </a:xfrm>
          <a:prstGeom prst="rect">
            <a:avLst/>
          </a:prstGeom>
          <a:noFill/>
          <a:ln/>
        </p:spPr>
        <p:txBody>
          <a:bodyPr wrap="square" lIns="0" tIns="0" rIns="0" bIns="0" rtlCol="0" anchor="ctr"/>
          <a:lstStyle/>
          <a:p>
            <a:pPr indent="0" marL="0">
              <a:buNone/>
            </a:pPr>
            <a:r>
              <a:rPr lang="en-US" sz="1300" i="1" dirty="0">
                <a:solidFill>
                  <a:srgbClr val="82868E"/>
                </a:solidFill>
                <a:latin typeface="Calibri" pitchFamily="34" charset="0"/>
                <a:ea typeface="Calibri" pitchFamily="34" charset="-122"/>
                <a:cs typeface="Calibri" pitchFamily="34" charset="-120"/>
              </a:rPr>
              <a:t>A number you cannot check</a:t>
            </a:r>
            <a:endParaRPr lang="en-US" sz="1300" dirty="0"/>
          </a:p>
        </p:txBody>
      </p:sp>
      <p:sp>
        <p:nvSpPr>
          <p:cNvPr id="12" name="Shape 10"/>
          <p:cNvSpPr/>
          <p:nvPr/>
        </p:nvSpPr>
        <p:spPr>
          <a:xfrm>
            <a:off x="640080" y="3602736"/>
            <a:ext cx="10911535" cy="713232"/>
          </a:xfrm>
          <a:prstGeom prst="roundRect">
            <a:avLst>
              <a:gd name="adj" fmla="val 17949"/>
            </a:avLst>
          </a:prstGeom>
          <a:solidFill>
            <a:srgbClr val="FFFFFF"/>
          </a:solidFill>
          <a:ln w="19050">
            <a:solidFill>
              <a:srgbClr val="E4E1D8"/>
            </a:solidFill>
            <a:prstDash val="solid"/>
          </a:ln>
        </p:spPr>
      </p:sp>
      <p:sp>
        <p:nvSpPr>
          <p:cNvPr id="13" name="Text 11"/>
          <p:cNvSpPr txBox="1"/>
          <p:nvPr/>
        </p:nvSpPr>
        <p:spPr>
          <a:xfrm>
            <a:off x="950976" y="3602736"/>
            <a:ext cx="3017520" cy="713232"/>
          </a:xfrm>
          <a:prstGeom prst="rect">
            <a:avLst/>
          </a:prstGeom>
          <a:noFill/>
          <a:ln/>
        </p:spPr>
        <p:txBody>
          <a:bodyPr wrap="square" lIns="0" tIns="0" rIns="0" bIns="0" rtlCol="0" anchor="ctr"/>
          <a:lstStyle/>
          <a:p>
            <a:pPr indent="0" marL="0">
              <a:buNone/>
            </a:pPr>
            <a:r>
              <a:rPr lang="en-US" sz="1500" b="1" dirty="0">
                <a:solidFill>
                  <a:srgbClr val="181A1E"/>
                </a:solidFill>
                <a:latin typeface="Calibri" pitchFamily="34" charset="0"/>
                <a:ea typeface="Calibri" pitchFamily="34" charset="-122"/>
                <a:cs typeface="Calibri" pitchFamily="34" charset="-120"/>
              </a:rPr>
              <a:t>Lab-on-a-chip startups</a:t>
            </a:r>
            <a:endParaRPr lang="en-US" sz="1500" dirty="0"/>
          </a:p>
        </p:txBody>
      </p:sp>
      <p:sp>
        <p:nvSpPr>
          <p:cNvPr id="14" name="Text 12"/>
          <p:cNvSpPr txBox="1"/>
          <p:nvPr/>
        </p:nvSpPr>
        <p:spPr>
          <a:xfrm>
            <a:off x="4114800" y="3602736"/>
            <a:ext cx="5120640" cy="713232"/>
          </a:xfrm>
          <a:prstGeom prst="rect">
            <a:avLst/>
          </a:prstGeom>
          <a:noFill/>
          <a:ln/>
        </p:spPr>
        <p:txBody>
          <a:bodyPr wrap="square" lIns="0" tIns="0" rIns="0" bIns="0" rtlCol="0" anchor="ctr"/>
          <a:lstStyle/>
          <a:p>
            <a:pPr indent="0" marL="0">
              <a:buNone/>
            </a:pPr>
            <a:r>
              <a:rPr lang="en-US" sz="1350" dirty="0">
                <a:solidFill>
                  <a:srgbClr val="4B5058"/>
                </a:solidFill>
                <a:latin typeface="Calibri" pitchFamily="34" charset="0"/>
                <a:ea typeface="Calibri" pitchFamily="34" charset="-122"/>
                <a:cs typeface="Calibri" pitchFamily="34" charset="-120"/>
              </a:rPr>
              <a:t>Grow human tissue and test on it. Real, but one organ at a time.</a:t>
            </a:r>
            <a:endParaRPr lang="en-US" sz="1350" dirty="0"/>
          </a:p>
        </p:txBody>
      </p:sp>
      <p:sp>
        <p:nvSpPr>
          <p:cNvPr id="15" name="Text 13"/>
          <p:cNvSpPr txBox="1"/>
          <p:nvPr/>
        </p:nvSpPr>
        <p:spPr>
          <a:xfrm>
            <a:off x="9418320" y="3602736"/>
            <a:ext cx="1858975" cy="713232"/>
          </a:xfrm>
          <a:prstGeom prst="rect">
            <a:avLst/>
          </a:prstGeom>
          <a:noFill/>
          <a:ln/>
        </p:spPr>
        <p:txBody>
          <a:bodyPr wrap="square" lIns="0" tIns="0" rIns="0" bIns="0" rtlCol="0" anchor="ctr"/>
          <a:lstStyle/>
          <a:p>
            <a:pPr indent="0" marL="0">
              <a:buNone/>
            </a:pPr>
            <a:r>
              <a:rPr lang="en-US" sz="1300" i="1" dirty="0">
                <a:solidFill>
                  <a:srgbClr val="C58A1E"/>
                </a:solidFill>
                <a:latin typeface="Calibri" pitchFamily="34" charset="0"/>
                <a:ea typeface="Calibri" pitchFamily="34" charset="-122"/>
                <a:cs typeface="Calibri" pitchFamily="34" charset="-120"/>
              </a:rPr>
              <a:t>Weeks per organ</a:t>
            </a:r>
            <a:endParaRPr lang="en-US" sz="1300" dirty="0"/>
          </a:p>
        </p:txBody>
      </p:sp>
      <p:sp>
        <p:nvSpPr>
          <p:cNvPr id="16" name="Shape 14"/>
          <p:cNvSpPr/>
          <p:nvPr/>
        </p:nvSpPr>
        <p:spPr>
          <a:xfrm>
            <a:off x="640080" y="4443984"/>
            <a:ext cx="10911535" cy="713232"/>
          </a:xfrm>
          <a:prstGeom prst="roundRect">
            <a:avLst>
              <a:gd name="adj" fmla="val 17949"/>
            </a:avLst>
          </a:prstGeom>
          <a:solidFill>
            <a:srgbClr val="FBEAEC"/>
          </a:solidFill>
          <a:ln w="19050">
            <a:solidFill>
              <a:srgbClr val="C1485A"/>
            </a:solidFill>
            <a:prstDash val="solid"/>
          </a:ln>
        </p:spPr>
      </p:sp>
      <p:sp>
        <p:nvSpPr>
          <p:cNvPr id="17" name="Text 15"/>
          <p:cNvSpPr txBox="1"/>
          <p:nvPr/>
        </p:nvSpPr>
        <p:spPr>
          <a:xfrm>
            <a:off x="950976" y="4443984"/>
            <a:ext cx="3017520" cy="713232"/>
          </a:xfrm>
          <a:prstGeom prst="rect">
            <a:avLst/>
          </a:prstGeom>
          <a:noFill/>
          <a:ln/>
        </p:spPr>
        <p:txBody>
          <a:bodyPr wrap="square" lIns="0" tIns="0" rIns="0" bIns="0" rtlCol="0" anchor="ctr"/>
          <a:lstStyle/>
          <a:p>
            <a:pPr indent="0" marL="0">
              <a:buNone/>
            </a:pPr>
            <a:r>
              <a:rPr lang="en-US" sz="1500" b="1" dirty="0">
                <a:solidFill>
                  <a:srgbClr val="7C2A38"/>
                </a:solidFill>
                <a:latin typeface="Calibri" pitchFamily="34" charset="0"/>
                <a:ea typeface="Calibri" pitchFamily="34" charset="-122"/>
                <a:cs typeface="Calibri" pitchFamily="34" charset="-120"/>
              </a:rPr>
              <a:t>ToxAI Organ Atlas</a:t>
            </a:r>
            <a:endParaRPr lang="en-US" sz="1500" dirty="0"/>
          </a:p>
        </p:txBody>
      </p:sp>
      <p:sp>
        <p:nvSpPr>
          <p:cNvPr id="18" name="Text 16"/>
          <p:cNvSpPr txBox="1"/>
          <p:nvPr/>
        </p:nvSpPr>
        <p:spPr>
          <a:xfrm>
            <a:off x="4114800" y="4443984"/>
            <a:ext cx="5120640" cy="713232"/>
          </a:xfrm>
          <a:prstGeom prst="rect">
            <a:avLst/>
          </a:prstGeom>
          <a:noFill/>
          <a:ln/>
        </p:spPr>
        <p:txBody>
          <a:bodyPr wrap="square" lIns="0" tIns="0" rIns="0" bIns="0" rtlCol="0" anchor="ctr"/>
          <a:lstStyle/>
          <a:p>
            <a:pPr indent="0" marL="0">
              <a:buNone/>
            </a:pPr>
            <a:r>
              <a:rPr lang="en-US" sz="1350" dirty="0">
                <a:solidFill>
                  <a:srgbClr val="4B5058"/>
                </a:solidFill>
                <a:latin typeface="Calibri" pitchFamily="34" charset="0"/>
                <a:ea typeface="Calibri" pitchFamily="34" charset="-122"/>
                <a:cs typeface="Calibri" pitchFamily="34" charset="-120"/>
              </a:rPr>
              <a:t>Which organ, how badly, and why. In thirty seconds.</a:t>
            </a:r>
            <a:endParaRPr lang="en-US" sz="1350" dirty="0"/>
          </a:p>
        </p:txBody>
      </p:sp>
      <p:sp>
        <p:nvSpPr>
          <p:cNvPr id="19" name="Text 17"/>
          <p:cNvSpPr txBox="1"/>
          <p:nvPr/>
        </p:nvSpPr>
        <p:spPr>
          <a:xfrm>
            <a:off x="9418320" y="4443984"/>
            <a:ext cx="1858975" cy="713232"/>
          </a:xfrm>
          <a:prstGeom prst="rect">
            <a:avLst/>
          </a:prstGeom>
          <a:noFill/>
          <a:ln/>
        </p:spPr>
        <p:txBody>
          <a:bodyPr wrap="square" lIns="0" tIns="0" rIns="0" bIns="0" rtlCol="0" anchor="ctr"/>
          <a:lstStyle/>
          <a:p>
            <a:pPr indent="0" marL="0">
              <a:buNone/>
            </a:pPr>
            <a:r>
              <a:rPr lang="en-US" sz="1300" i="1" dirty="0">
                <a:solidFill>
                  <a:srgbClr val="C1485A"/>
                </a:solidFill>
                <a:latin typeface="Calibri" pitchFamily="34" charset="0"/>
                <a:ea typeface="Calibri" pitchFamily="34" charset="-122"/>
                <a:cs typeface="Calibri" pitchFamily="34" charset="-120"/>
              </a:rPr>
              <a:t>The whole body at once</a:t>
            </a:r>
            <a:endParaRPr lang="en-US" sz="1300" dirty="0"/>
          </a:p>
        </p:txBody>
      </p:sp>
      <p:sp>
        <p:nvSpPr>
          <p:cNvPr id="20" name="Text 18"/>
          <p:cNvSpPr txBox="1"/>
          <p:nvPr/>
        </p:nvSpPr>
        <p:spPr>
          <a:xfrm>
            <a:off x="10637215" y="6437376"/>
            <a:ext cx="914400" cy="219456"/>
          </a:xfrm>
          <a:prstGeom prst="rect">
            <a:avLst/>
          </a:prstGeom>
          <a:noFill/>
          <a:ln/>
        </p:spPr>
        <p:txBody>
          <a:bodyPr wrap="square" lIns="0" tIns="0" rIns="0" bIns="0" rtlCol="0" anchor="ctr"/>
          <a:lstStyle/>
          <a:p>
            <a:pPr algn="r" indent="0" marL="0">
              <a:buNone/>
            </a:pPr>
            <a:r>
              <a:rPr lang="en-US" sz="900" dirty="0">
                <a:solidFill>
                  <a:srgbClr val="82868E"/>
                </a:solidFill>
                <a:latin typeface="Courier New" pitchFamily="34" charset="0"/>
                <a:ea typeface="Courier New" pitchFamily="34" charset="-122"/>
                <a:cs typeface="Courier New"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BF8"/>
        </a:solidFill>
      </p:bgPr>
    </p:bg>
    <p:spTree>
      <p:nvGrpSpPr>
        <p:cNvPr id="1" name=""/>
        <p:cNvGrpSpPr/>
        <p:nvPr/>
      </p:nvGrpSpPr>
      <p:grpSpPr>
        <a:xfrm>
          <a:off x="0" y="0"/>
          <a:ext cx="0" cy="0"/>
          <a:chOff x="0" y="0"/>
          <a:chExt cx="0" cy="0"/>
        </a:xfrm>
      </p:grpSpPr>
      <p:sp>
        <p:nvSpPr>
          <p:cNvPr id="2" name="Text 0"/>
          <p:cNvSpPr txBox="1"/>
          <p:nvPr/>
        </p:nvSpPr>
        <p:spPr>
          <a:xfrm>
            <a:off x="640080" y="640080"/>
            <a:ext cx="10911535" cy="237744"/>
          </a:xfrm>
          <a:prstGeom prst="rect">
            <a:avLst/>
          </a:prstGeom>
          <a:noFill/>
          <a:ln/>
        </p:spPr>
        <p:txBody>
          <a:bodyPr wrap="square" lIns="0" tIns="0" rIns="0" bIns="0" rtlCol="0" anchor="ctr"/>
          <a:lstStyle/>
          <a:p>
            <a:pPr indent="0" marL="0">
              <a:buNone/>
            </a:pPr>
            <a:r>
              <a:rPr lang="en-US" sz="1000" spc="180" kern="0" dirty="0">
                <a:solidFill>
                  <a:srgbClr val="C1485A"/>
                </a:solidFill>
                <a:latin typeface="Courier New" pitchFamily="34" charset="0"/>
                <a:ea typeface="Courier New" pitchFamily="34" charset="-122"/>
                <a:cs typeface="Courier New" pitchFamily="34" charset="-120"/>
              </a:rPr>
              <a:t>BUSINESS MODEL</a:t>
            </a:r>
            <a:endParaRPr lang="en-US" sz="1000" dirty="0"/>
          </a:p>
        </p:txBody>
      </p:sp>
      <p:sp>
        <p:nvSpPr>
          <p:cNvPr id="3" name="Text 1"/>
          <p:cNvSpPr txBox="1"/>
          <p:nvPr/>
        </p:nvSpPr>
        <p:spPr>
          <a:xfrm>
            <a:off x="640080" y="987552"/>
            <a:ext cx="10911535" cy="658368"/>
          </a:xfrm>
          <a:prstGeom prst="rect">
            <a:avLst/>
          </a:prstGeom>
          <a:noFill/>
          <a:ln/>
        </p:spPr>
        <p:txBody>
          <a:bodyPr wrap="square" lIns="0" tIns="0" rIns="0" bIns="0" rtlCol="0" anchor="t"/>
          <a:lstStyle/>
          <a:p>
            <a:pPr indent="0" marL="0">
              <a:lnSpc>
                <a:spcPct val="98000"/>
              </a:lnSpc>
              <a:buNone/>
            </a:pPr>
            <a:r>
              <a:rPr lang="en-US" sz="3600" dirty="0">
                <a:solidFill>
                  <a:srgbClr val="181A1E"/>
                </a:solidFill>
                <a:latin typeface="Cambria" pitchFamily="34" charset="0"/>
                <a:ea typeface="Cambria" pitchFamily="34" charset="-122"/>
                <a:cs typeface="Cambria" pitchFamily="34" charset="-120"/>
              </a:rPr>
              <a:t>Sell answers now. Sell the safety layer later.</a:t>
            </a:r>
            <a:endParaRPr lang="en-US" sz="3600" dirty="0"/>
          </a:p>
        </p:txBody>
      </p:sp>
      <p:sp>
        <p:nvSpPr>
          <p:cNvPr id="4" name="Shape 2"/>
          <p:cNvSpPr/>
          <p:nvPr/>
        </p:nvSpPr>
        <p:spPr>
          <a:xfrm>
            <a:off x="640080" y="1920240"/>
            <a:ext cx="3429914" cy="2651760"/>
          </a:xfrm>
          <a:prstGeom prst="roundRect">
            <a:avLst>
              <a:gd name="adj" fmla="val 4828"/>
            </a:avLst>
          </a:prstGeom>
          <a:solidFill>
            <a:srgbClr val="FBEAEC"/>
          </a:solidFill>
          <a:ln w="19050">
            <a:solidFill>
              <a:srgbClr val="C1485A"/>
            </a:solidFill>
            <a:prstDash val="solid"/>
          </a:ln>
        </p:spPr>
      </p:sp>
      <p:sp>
        <p:nvSpPr>
          <p:cNvPr id="5" name="Text 3"/>
          <p:cNvSpPr txBox="1"/>
          <p:nvPr/>
        </p:nvSpPr>
        <p:spPr>
          <a:xfrm>
            <a:off x="950976" y="2176272"/>
            <a:ext cx="2808122" cy="274320"/>
          </a:xfrm>
          <a:prstGeom prst="rect">
            <a:avLst/>
          </a:prstGeom>
          <a:noFill/>
          <a:ln/>
        </p:spPr>
        <p:txBody>
          <a:bodyPr wrap="square" lIns="0" tIns="0" rIns="0" bIns="0" rtlCol="0" anchor="ctr"/>
          <a:lstStyle/>
          <a:p>
            <a:pPr indent="0" marL="0">
              <a:buNone/>
            </a:pPr>
            <a:r>
              <a:rPr lang="en-US" sz="1100" spc="160" kern="0" dirty="0">
                <a:solidFill>
                  <a:srgbClr val="C1485A"/>
                </a:solidFill>
                <a:latin typeface="Courier New" pitchFamily="34" charset="0"/>
                <a:ea typeface="Courier New" pitchFamily="34" charset="-122"/>
                <a:cs typeface="Courier New" pitchFamily="34" charset="-120"/>
              </a:rPr>
              <a:t>NOW</a:t>
            </a:r>
            <a:endParaRPr lang="en-US" sz="1100" dirty="0"/>
          </a:p>
        </p:txBody>
      </p:sp>
      <p:sp>
        <p:nvSpPr>
          <p:cNvPr id="6" name="Text 4"/>
          <p:cNvSpPr txBox="1"/>
          <p:nvPr/>
        </p:nvSpPr>
        <p:spPr>
          <a:xfrm>
            <a:off x="950976" y="2523744"/>
            <a:ext cx="2808122" cy="640080"/>
          </a:xfrm>
          <a:prstGeom prst="rect">
            <a:avLst/>
          </a:prstGeom>
          <a:noFill/>
          <a:ln/>
        </p:spPr>
        <p:txBody>
          <a:bodyPr wrap="square" lIns="0" tIns="0" rIns="0" bIns="0" rtlCol="0" anchor="ctr"/>
          <a:lstStyle/>
          <a:p>
            <a:pPr indent="0" marL="0">
              <a:buNone/>
            </a:pPr>
            <a:r>
              <a:rPr lang="en-US" sz="3200" dirty="0">
                <a:solidFill>
                  <a:srgbClr val="C1485A"/>
                </a:solidFill>
                <a:latin typeface="Cambria" pitchFamily="34" charset="0"/>
                <a:ea typeface="Cambria" pitchFamily="34" charset="-122"/>
                <a:cs typeface="Cambria" pitchFamily="34" charset="-120"/>
              </a:rPr>
              <a:t>€100</a:t>
            </a:r>
            <a:endParaRPr lang="en-US" sz="3200" dirty="0"/>
          </a:p>
        </p:txBody>
      </p:sp>
      <p:sp>
        <p:nvSpPr>
          <p:cNvPr id="7" name="Text 5"/>
          <p:cNvSpPr txBox="1"/>
          <p:nvPr/>
        </p:nvSpPr>
        <p:spPr>
          <a:xfrm>
            <a:off x="950976" y="3163824"/>
            <a:ext cx="2808122" cy="274320"/>
          </a:xfrm>
          <a:prstGeom prst="rect">
            <a:avLst/>
          </a:prstGeom>
          <a:noFill/>
          <a:ln/>
        </p:spPr>
        <p:txBody>
          <a:bodyPr wrap="square" lIns="0" tIns="0" rIns="0" bIns="0" rtlCol="0" anchor="ctr"/>
          <a:lstStyle/>
          <a:p>
            <a:pPr indent="0" marL="0">
              <a:buNone/>
            </a:pPr>
            <a:r>
              <a:rPr lang="en-US" sz="1300" dirty="0">
                <a:solidFill>
                  <a:srgbClr val="82868E"/>
                </a:solidFill>
                <a:latin typeface="Courier New" pitchFamily="34" charset="0"/>
                <a:ea typeface="Courier New" pitchFamily="34" charset="-122"/>
                <a:cs typeface="Courier New" pitchFamily="34" charset="-120"/>
              </a:rPr>
              <a:t>per answer</a:t>
            </a:r>
            <a:endParaRPr lang="en-US" sz="1300" dirty="0"/>
          </a:p>
        </p:txBody>
      </p:sp>
      <p:sp>
        <p:nvSpPr>
          <p:cNvPr id="8" name="Text 6"/>
          <p:cNvSpPr txBox="1"/>
          <p:nvPr/>
        </p:nvSpPr>
        <p:spPr>
          <a:xfrm>
            <a:off x="950976" y="3547872"/>
            <a:ext cx="2808122" cy="914400"/>
          </a:xfrm>
          <a:prstGeom prst="rect">
            <a:avLst/>
          </a:prstGeom>
          <a:noFill/>
          <a:ln/>
        </p:spPr>
        <p:txBody>
          <a:bodyPr wrap="square" lIns="0" tIns="0" rIns="0" bIns="0" rtlCol="0" anchor="t"/>
          <a:lstStyle/>
          <a:p>
            <a:pPr indent="0" marL="0">
              <a:lnSpc>
                <a:spcPct val="118000"/>
              </a:lnSpc>
              <a:buNone/>
            </a:pPr>
            <a:r>
              <a:rPr lang="en-US" sz="1350" dirty="0">
                <a:solidFill>
                  <a:srgbClr val="4B5058"/>
                </a:solidFill>
                <a:latin typeface="Calibri" pitchFamily="34" charset="0"/>
                <a:ea typeface="Calibri" pitchFamily="34" charset="-122"/>
                <a:cs typeface="Calibri" pitchFamily="34" charset="-120"/>
              </a:rPr>
              <a:t>A researcher with one molecule and a question. Card payment, no sales call.</a:t>
            </a:r>
            <a:endParaRPr lang="en-US" sz="1350" dirty="0"/>
          </a:p>
        </p:txBody>
      </p:sp>
      <p:sp>
        <p:nvSpPr>
          <p:cNvPr id="9" name="Shape 7"/>
          <p:cNvSpPr/>
          <p:nvPr/>
        </p:nvSpPr>
        <p:spPr>
          <a:xfrm>
            <a:off x="4380890" y="1920240"/>
            <a:ext cx="3429914" cy="2651760"/>
          </a:xfrm>
          <a:prstGeom prst="roundRect">
            <a:avLst>
              <a:gd name="adj" fmla="val 4828"/>
            </a:avLst>
          </a:prstGeom>
          <a:solidFill>
            <a:srgbClr val="FFFFFF"/>
          </a:solidFill>
          <a:ln w="19050">
            <a:solidFill>
              <a:srgbClr val="E4E1D8"/>
            </a:solidFill>
            <a:prstDash val="solid"/>
          </a:ln>
        </p:spPr>
      </p:sp>
      <p:sp>
        <p:nvSpPr>
          <p:cNvPr id="10" name="Text 8"/>
          <p:cNvSpPr txBox="1"/>
          <p:nvPr/>
        </p:nvSpPr>
        <p:spPr>
          <a:xfrm>
            <a:off x="4691786" y="2176272"/>
            <a:ext cx="2808122" cy="274320"/>
          </a:xfrm>
          <a:prstGeom prst="rect">
            <a:avLst/>
          </a:prstGeom>
          <a:noFill/>
          <a:ln/>
        </p:spPr>
        <p:txBody>
          <a:bodyPr wrap="square" lIns="0" tIns="0" rIns="0" bIns="0" rtlCol="0" anchor="ctr"/>
          <a:lstStyle/>
          <a:p>
            <a:pPr indent="0" marL="0">
              <a:buNone/>
            </a:pPr>
            <a:r>
              <a:rPr lang="en-US" sz="1100" spc="160" kern="0" dirty="0">
                <a:solidFill>
                  <a:srgbClr val="181A1E"/>
                </a:solidFill>
                <a:latin typeface="Courier New" pitchFamily="34" charset="0"/>
                <a:ea typeface="Courier New" pitchFamily="34" charset="-122"/>
                <a:cs typeface="Courier New" pitchFamily="34" charset="-120"/>
              </a:rPr>
              <a:t>NEXT</a:t>
            </a:r>
            <a:endParaRPr lang="en-US" sz="1100" dirty="0"/>
          </a:p>
        </p:txBody>
      </p:sp>
      <p:sp>
        <p:nvSpPr>
          <p:cNvPr id="11" name="Text 9"/>
          <p:cNvSpPr txBox="1"/>
          <p:nvPr/>
        </p:nvSpPr>
        <p:spPr>
          <a:xfrm>
            <a:off x="4691786" y="2523744"/>
            <a:ext cx="2808122" cy="640080"/>
          </a:xfrm>
          <a:prstGeom prst="rect">
            <a:avLst/>
          </a:prstGeom>
          <a:noFill/>
          <a:ln/>
        </p:spPr>
        <p:txBody>
          <a:bodyPr wrap="square" lIns="0" tIns="0" rIns="0" bIns="0" rtlCol="0" anchor="ctr"/>
          <a:lstStyle/>
          <a:p>
            <a:pPr indent="0" marL="0">
              <a:buNone/>
            </a:pPr>
            <a:r>
              <a:rPr lang="en-US" sz="3200" dirty="0">
                <a:solidFill>
                  <a:srgbClr val="181A1E"/>
                </a:solidFill>
                <a:latin typeface="Cambria" pitchFamily="34" charset="0"/>
                <a:ea typeface="Cambria" pitchFamily="34" charset="-122"/>
                <a:cs typeface="Cambria" pitchFamily="34" charset="-120"/>
              </a:rPr>
              <a:t>€5–20k</a:t>
            </a:r>
            <a:endParaRPr lang="en-US" sz="3200" dirty="0"/>
          </a:p>
        </p:txBody>
      </p:sp>
      <p:sp>
        <p:nvSpPr>
          <p:cNvPr id="12" name="Text 10"/>
          <p:cNvSpPr txBox="1"/>
          <p:nvPr/>
        </p:nvSpPr>
        <p:spPr>
          <a:xfrm>
            <a:off x="4691786" y="3163824"/>
            <a:ext cx="2808122" cy="274320"/>
          </a:xfrm>
          <a:prstGeom prst="rect">
            <a:avLst/>
          </a:prstGeom>
          <a:noFill/>
          <a:ln/>
        </p:spPr>
        <p:txBody>
          <a:bodyPr wrap="square" lIns="0" tIns="0" rIns="0" bIns="0" rtlCol="0" anchor="ctr"/>
          <a:lstStyle/>
          <a:p>
            <a:pPr indent="0" marL="0">
              <a:buNone/>
            </a:pPr>
            <a:r>
              <a:rPr lang="en-US" sz="1300" dirty="0">
                <a:solidFill>
                  <a:srgbClr val="82868E"/>
                </a:solidFill>
                <a:latin typeface="Courier New" pitchFamily="34" charset="0"/>
                <a:ea typeface="Courier New" pitchFamily="34" charset="-122"/>
                <a:cs typeface="Courier New" pitchFamily="34" charset="-120"/>
              </a:rPr>
              <a:t>per programme</a:t>
            </a:r>
            <a:endParaRPr lang="en-US" sz="1300" dirty="0"/>
          </a:p>
        </p:txBody>
      </p:sp>
      <p:sp>
        <p:nvSpPr>
          <p:cNvPr id="13" name="Text 11"/>
          <p:cNvSpPr txBox="1"/>
          <p:nvPr/>
        </p:nvSpPr>
        <p:spPr>
          <a:xfrm>
            <a:off x="4691786" y="3547872"/>
            <a:ext cx="2808122" cy="914400"/>
          </a:xfrm>
          <a:prstGeom prst="rect">
            <a:avLst/>
          </a:prstGeom>
          <a:noFill/>
          <a:ln/>
        </p:spPr>
        <p:txBody>
          <a:bodyPr wrap="square" lIns="0" tIns="0" rIns="0" bIns="0" rtlCol="0" anchor="t"/>
          <a:lstStyle/>
          <a:p>
            <a:pPr indent="0" marL="0">
              <a:lnSpc>
                <a:spcPct val="118000"/>
              </a:lnSpc>
              <a:buNone/>
            </a:pPr>
            <a:r>
              <a:rPr lang="en-US" sz="1350" dirty="0">
                <a:solidFill>
                  <a:srgbClr val="4B5058"/>
                </a:solidFill>
                <a:latin typeface="Calibri" pitchFamily="34" charset="0"/>
                <a:ea typeface="Calibri" pitchFamily="34" charset="-122"/>
                <a:cs typeface="Calibri" pitchFamily="34" charset="-120"/>
              </a:rPr>
              <a:t>A team screening a family of candidates before they commit to a safety package.</a:t>
            </a:r>
            <a:endParaRPr lang="en-US" sz="1350" dirty="0"/>
          </a:p>
        </p:txBody>
      </p:sp>
      <p:sp>
        <p:nvSpPr>
          <p:cNvPr id="14" name="Shape 12"/>
          <p:cNvSpPr/>
          <p:nvPr/>
        </p:nvSpPr>
        <p:spPr>
          <a:xfrm>
            <a:off x="8121701" y="1920240"/>
            <a:ext cx="3429914" cy="2651760"/>
          </a:xfrm>
          <a:prstGeom prst="roundRect">
            <a:avLst>
              <a:gd name="adj" fmla="val 4828"/>
            </a:avLst>
          </a:prstGeom>
          <a:solidFill>
            <a:srgbClr val="FFFFFF"/>
          </a:solidFill>
          <a:ln w="19050">
            <a:solidFill>
              <a:srgbClr val="E4E1D8"/>
            </a:solidFill>
            <a:prstDash val="solid"/>
          </a:ln>
        </p:spPr>
      </p:sp>
      <p:sp>
        <p:nvSpPr>
          <p:cNvPr id="15" name="Text 13"/>
          <p:cNvSpPr txBox="1"/>
          <p:nvPr/>
        </p:nvSpPr>
        <p:spPr>
          <a:xfrm>
            <a:off x="8432597" y="2176272"/>
            <a:ext cx="2808122" cy="274320"/>
          </a:xfrm>
          <a:prstGeom prst="rect">
            <a:avLst/>
          </a:prstGeom>
          <a:noFill/>
          <a:ln/>
        </p:spPr>
        <p:txBody>
          <a:bodyPr wrap="square" lIns="0" tIns="0" rIns="0" bIns="0" rtlCol="0" anchor="ctr"/>
          <a:lstStyle/>
          <a:p>
            <a:pPr indent="0" marL="0">
              <a:buNone/>
            </a:pPr>
            <a:r>
              <a:rPr lang="en-US" sz="1100" spc="160" kern="0" dirty="0">
                <a:solidFill>
                  <a:srgbClr val="82868E"/>
                </a:solidFill>
                <a:latin typeface="Courier New" pitchFamily="34" charset="0"/>
                <a:ea typeface="Courier New" pitchFamily="34" charset="-122"/>
                <a:cs typeface="Courier New" pitchFamily="34" charset="-120"/>
              </a:rPr>
              <a:t>LATER</a:t>
            </a:r>
            <a:endParaRPr lang="en-US" sz="1100" dirty="0"/>
          </a:p>
        </p:txBody>
      </p:sp>
      <p:sp>
        <p:nvSpPr>
          <p:cNvPr id="16" name="Text 14"/>
          <p:cNvSpPr txBox="1"/>
          <p:nvPr/>
        </p:nvSpPr>
        <p:spPr>
          <a:xfrm>
            <a:off x="8432597" y="2523744"/>
            <a:ext cx="2808122" cy="640080"/>
          </a:xfrm>
          <a:prstGeom prst="rect">
            <a:avLst/>
          </a:prstGeom>
          <a:noFill/>
          <a:ln/>
        </p:spPr>
        <p:txBody>
          <a:bodyPr wrap="square" lIns="0" tIns="0" rIns="0" bIns="0" rtlCol="0" anchor="ctr"/>
          <a:lstStyle/>
          <a:p>
            <a:pPr indent="0" marL="0">
              <a:buNone/>
            </a:pPr>
            <a:r>
              <a:rPr lang="en-US" sz="3200" dirty="0">
                <a:solidFill>
                  <a:srgbClr val="82868E"/>
                </a:solidFill>
                <a:latin typeface="Cambria" pitchFamily="34" charset="0"/>
                <a:ea typeface="Cambria" pitchFamily="34" charset="-122"/>
                <a:cs typeface="Cambria" pitchFamily="34" charset="-120"/>
              </a:rPr>
              <a:t>Enterprise</a:t>
            </a:r>
            <a:endParaRPr lang="en-US" sz="3200" dirty="0"/>
          </a:p>
        </p:txBody>
      </p:sp>
      <p:sp>
        <p:nvSpPr>
          <p:cNvPr id="17" name="Text 15"/>
          <p:cNvSpPr txBox="1"/>
          <p:nvPr/>
        </p:nvSpPr>
        <p:spPr>
          <a:xfrm>
            <a:off x="8432597" y="3163824"/>
            <a:ext cx="2808122" cy="274320"/>
          </a:xfrm>
          <a:prstGeom prst="rect">
            <a:avLst/>
          </a:prstGeom>
          <a:noFill/>
          <a:ln/>
        </p:spPr>
        <p:txBody>
          <a:bodyPr wrap="square" lIns="0" tIns="0" rIns="0" bIns="0" rtlCol="0" anchor="ctr"/>
          <a:lstStyle/>
          <a:p>
            <a:pPr indent="0" marL="0">
              <a:buNone/>
            </a:pPr>
            <a:r>
              <a:rPr lang="en-US" sz="1300" dirty="0">
                <a:solidFill>
                  <a:srgbClr val="82868E"/>
                </a:solidFill>
                <a:latin typeface="Courier New" pitchFamily="34" charset="0"/>
                <a:ea typeface="Courier New" pitchFamily="34" charset="-122"/>
                <a:cs typeface="Courier New" pitchFamily="34" charset="-120"/>
              </a:rPr>
              <a:t>per year</a:t>
            </a:r>
            <a:endParaRPr lang="en-US" sz="1300" dirty="0"/>
          </a:p>
        </p:txBody>
      </p:sp>
      <p:sp>
        <p:nvSpPr>
          <p:cNvPr id="18" name="Text 16"/>
          <p:cNvSpPr txBox="1"/>
          <p:nvPr/>
        </p:nvSpPr>
        <p:spPr>
          <a:xfrm>
            <a:off x="8432597" y="3547872"/>
            <a:ext cx="2808122" cy="914400"/>
          </a:xfrm>
          <a:prstGeom prst="rect">
            <a:avLst/>
          </a:prstGeom>
          <a:noFill/>
          <a:ln/>
        </p:spPr>
        <p:txBody>
          <a:bodyPr wrap="square" lIns="0" tIns="0" rIns="0" bIns="0" rtlCol="0" anchor="t"/>
          <a:lstStyle/>
          <a:p>
            <a:pPr indent="0" marL="0">
              <a:lnSpc>
                <a:spcPct val="118000"/>
              </a:lnSpc>
              <a:buNone/>
            </a:pPr>
            <a:r>
              <a:rPr lang="en-US" sz="1350" dirty="0">
                <a:solidFill>
                  <a:srgbClr val="4B5058"/>
                </a:solidFill>
                <a:latin typeface="Calibri" pitchFamily="34" charset="0"/>
                <a:ea typeface="Calibri" pitchFamily="34" charset="-122"/>
                <a:cs typeface="Calibri" pitchFamily="34" charset="-120"/>
              </a:rPr>
              <a:t>The safety layer a pharma company runs every new molecule through by default.</a:t>
            </a:r>
            <a:endParaRPr lang="en-US" sz="1350" dirty="0"/>
          </a:p>
        </p:txBody>
      </p:sp>
      <p:sp>
        <p:nvSpPr>
          <p:cNvPr id="19" name="Text 17"/>
          <p:cNvSpPr txBox="1"/>
          <p:nvPr/>
        </p:nvSpPr>
        <p:spPr>
          <a:xfrm>
            <a:off x="10637215" y="6437376"/>
            <a:ext cx="914400" cy="219456"/>
          </a:xfrm>
          <a:prstGeom prst="rect">
            <a:avLst/>
          </a:prstGeom>
          <a:noFill/>
          <a:ln/>
        </p:spPr>
        <p:txBody>
          <a:bodyPr wrap="square" lIns="0" tIns="0" rIns="0" bIns="0" rtlCol="0" anchor="ctr"/>
          <a:lstStyle/>
          <a:p>
            <a:pPr algn="r" indent="0" marL="0">
              <a:buNone/>
            </a:pPr>
            <a:r>
              <a:rPr lang="en-US" sz="900" dirty="0">
                <a:solidFill>
                  <a:srgbClr val="82868E"/>
                </a:solidFill>
                <a:latin typeface="Courier New" pitchFamily="34" charset="0"/>
                <a:ea typeface="Courier New" pitchFamily="34" charset="-122"/>
                <a:cs typeface="Courier New"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8"/>
        </a:solidFill>
      </p:bgPr>
    </p:bg>
    <p:spTree>
      <p:nvGrpSpPr>
        <p:cNvPr id="1" name=""/>
        <p:cNvGrpSpPr/>
        <p:nvPr/>
      </p:nvGrpSpPr>
      <p:grpSpPr>
        <a:xfrm>
          <a:off x="0" y="0"/>
          <a:ext cx="0" cy="0"/>
          <a:chOff x="0" y="0"/>
          <a:chExt cx="0" cy="0"/>
        </a:xfrm>
      </p:grpSpPr>
      <p:sp>
        <p:nvSpPr>
          <p:cNvPr id="2" name="Text 0"/>
          <p:cNvSpPr txBox="1"/>
          <p:nvPr/>
        </p:nvSpPr>
        <p:spPr>
          <a:xfrm>
            <a:off x="640080" y="640080"/>
            <a:ext cx="10911535" cy="237744"/>
          </a:xfrm>
          <a:prstGeom prst="rect">
            <a:avLst/>
          </a:prstGeom>
          <a:noFill/>
          <a:ln/>
        </p:spPr>
        <p:txBody>
          <a:bodyPr wrap="square" lIns="0" tIns="0" rIns="0" bIns="0" rtlCol="0" anchor="ctr"/>
          <a:lstStyle/>
          <a:p>
            <a:pPr indent="0" marL="0">
              <a:buNone/>
            </a:pPr>
            <a:r>
              <a:rPr lang="en-US" sz="1000" spc="180" kern="0" dirty="0">
                <a:solidFill>
                  <a:srgbClr val="C1485A"/>
                </a:solidFill>
                <a:latin typeface="Courier New" pitchFamily="34" charset="0"/>
                <a:ea typeface="Courier New" pitchFamily="34" charset="-122"/>
                <a:cs typeface="Courier New" pitchFamily="34" charset="-120"/>
              </a:rPr>
              <a:t>GO-TO-MARKET</a:t>
            </a:r>
            <a:endParaRPr lang="en-US" sz="1000" dirty="0"/>
          </a:p>
        </p:txBody>
      </p:sp>
      <p:sp>
        <p:nvSpPr>
          <p:cNvPr id="3" name="Text 1"/>
          <p:cNvSpPr txBox="1"/>
          <p:nvPr/>
        </p:nvSpPr>
        <p:spPr>
          <a:xfrm>
            <a:off x="640080" y="987552"/>
            <a:ext cx="10911535" cy="1097280"/>
          </a:xfrm>
          <a:prstGeom prst="rect">
            <a:avLst/>
          </a:prstGeom>
          <a:noFill/>
          <a:ln/>
        </p:spPr>
        <p:txBody>
          <a:bodyPr wrap="square" lIns="0" tIns="0" rIns="0" bIns="0" rtlCol="0" anchor="t"/>
          <a:lstStyle/>
          <a:p>
            <a:pPr indent="0" marL="0">
              <a:lnSpc>
                <a:spcPct val="98000"/>
              </a:lnSpc>
              <a:buNone/>
            </a:pPr>
            <a:r>
              <a:rPr lang="en-US" sz="3200" dirty="0">
                <a:solidFill>
                  <a:srgbClr val="181A1E"/>
                </a:solidFill>
                <a:latin typeface="Cambria" pitchFamily="34" charset="0"/>
                <a:ea typeface="Cambria" pitchFamily="34" charset="-122"/>
                <a:cs typeface="Cambria" pitchFamily="34" charset="-120"/>
              </a:rPr>
              <a:t>Start with the people who already know they have this problem.</a:t>
            </a:r>
            <a:endParaRPr lang="en-US" sz="3200" dirty="0"/>
          </a:p>
        </p:txBody>
      </p:sp>
      <p:sp>
        <p:nvSpPr>
          <p:cNvPr id="4" name="Shape 2"/>
          <p:cNvSpPr/>
          <p:nvPr/>
        </p:nvSpPr>
        <p:spPr>
          <a:xfrm>
            <a:off x="640080" y="2359152"/>
            <a:ext cx="3429914" cy="2743200"/>
          </a:xfrm>
          <a:prstGeom prst="roundRect">
            <a:avLst>
              <a:gd name="adj" fmla="val 4667"/>
            </a:avLst>
          </a:prstGeom>
          <a:solidFill>
            <a:srgbClr val="FFFFFF"/>
          </a:solidFill>
          <a:ln w="19050">
            <a:solidFill>
              <a:srgbClr val="E4E1D8"/>
            </a:solidFill>
            <a:prstDash val="solid"/>
          </a:ln>
        </p:spPr>
      </p:sp>
      <p:sp>
        <p:nvSpPr>
          <p:cNvPr id="5" name="Text 3"/>
          <p:cNvSpPr txBox="1"/>
          <p:nvPr/>
        </p:nvSpPr>
        <p:spPr>
          <a:xfrm>
            <a:off x="950976" y="2633472"/>
            <a:ext cx="914400" cy="310896"/>
          </a:xfrm>
          <a:prstGeom prst="rect">
            <a:avLst/>
          </a:prstGeom>
          <a:noFill/>
          <a:ln/>
        </p:spPr>
        <p:txBody>
          <a:bodyPr wrap="square" lIns="0" tIns="0" rIns="0" bIns="0" rtlCol="0" anchor="ctr"/>
          <a:lstStyle/>
          <a:p>
            <a:pPr indent="0" marL="0">
              <a:buNone/>
            </a:pPr>
            <a:r>
              <a:rPr lang="en-US" sz="1300" spc="140" kern="0" dirty="0">
                <a:solidFill>
                  <a:srgbClr val="C1485A"/>
                </a:solidFill>
                <a:latin typeface="Courier New" pitchFamily="34" charset="0"/>
                <a:ea typeface="Courier New" pitchFamily="34" charset="-122"/>
                <a:cs typeface="Courier New" pitchFamily="34" charset="-120"/>
              </a:rPr>
              <a:t>01</a:t>
            </a:r>
            <a:endParaRPr lang="en-US" sz="1300" dirty="0"/>
          </a:p>
        </p:txBody>
      </p:sp>
      <p:sp>
        <p:nvSpPr>
          <p:cNvPr id="6" name="Text 4"/>
          <p:cNvSpPr txBox="1"/>
          <p:nvPr/>
        </p:nvSpPr>
        <p:spPr>
          <a:xfrm>
            <a:off x="950976" y="3054096"/>
            <a:ext cx="2808122" cy="731520"/>
          </a:xfrm>
          <a:prstGeom prst="rect">
            <a:avLst/>
          </a:prstGeom>
          <a:noFill/>
          <a:ln/>
        </p:spPr>
        <p:txBody>
          <a:bodyPr wrap="square" lIns="0" tIns="0" rIns="0" bIns="0" rtlCol="0" anchor="t"/>
          <a:lstStyle/>
          <a:p>
            <a:pPr indent="0" marL="0">
              <a:lnSpc>
                <a:spcPct val="100000"/>
              </a:lnSpc>
              <a:buNone/>
            </a:pPr>
            <a:r>
              <a:rPr lang="en-US" sz="1900" dirty="0">
                <a:solidFill>
                  <a:srgbClr val="181A1E"/>
                </a:solidFill>
                <a:latin typeface="Cambria" pitchFamily="34" charset="0"/>
                <a:ea typeface="Cambria" pitchFamily="34" charset="-122"/>
                <a:cs typeface="Cambria" pitchFamily="34" charset="-120"/>
              </a:rPr>
              <a:t>Guided-missile drugs</a:t>
            </a:r>
            <a:endParaRPr lang="en-US" sz="1900" dirty="0"/>
          </a:p>
        </p:txBody>
      </p:sp>
      <p:sp>
        <p:nvSpPr>
          <p:cNvPr id="7" name="Text 5"/>
          <p:cNvSpPr txBox="1"/>
          <p:nvPr/>
        </p:nvSpPr>
        <p:spPr>
          <a:xfrm>
            <a:off x="950976" y="3877056"/>
            <a:ext cx="2808122" cy="1097280"/>
          </a:xfrm>
          <a:prstGeom prst="rect">
            <a:avLst/>
          </a:prstGeom>
          <a:noFill/>
          <a:ln/>
        </p:spPr>
        <p:txBody>
          <a:bodyPr wrap="square" lIns="0" tIns="0" rIns="0" bIns="0" rtlCol="0" anchor="t"/>
          <a:lstStyle/>
          <a:p>
            <a:pPr indent="0" marL="0">
              <a:lnSpc>
                <a:spcPct val="118000"/>
              </a:lnSpc>
              <a:buNone/>
            </a:pPr>
            <a:r>
              <a:rPr lang="en-US" sz="1350" dirty="0">
                <a:solidFill>
                  <a:srgbClr val="4B5058"/>
                </a:solidFill>
                <a:latin typeface="Calibri" pitchFamily="34" charset="0"/>
                <a:ea typeface="Calibri" pitchFamily="34" charset="-122"/>
                <a:cs typeface="Calibri" pitchFamily="34" charset="-120"/>
              </a:rPr>
              <a:t>The field our first case comes from is small, fast-growing, and every team in it has been burned by the warhead problem. They do not need convincing that it is real.</a:t>
            </a:r>
            <a:endParaRPr lang="en-US" sz="1350" dirty="0"/>
          </a:p>
        </p:txBody>
      </p:sp>
      <p:sp>
        <p:nvSpPr>
          <p:cNvPr id="8" name="Shape 6"/>
          <p:cNvSpPr/>
          <p:nvPr/>
        </p:nvSpPr>
        <p:spPr>
          <a:xfrm>
            <a:off x="4380890" y="2359152"/>
            <a:ext cx="3429914" cy="2743200"/>
          </a:xfrm>
          <a:prstGeom prst="roundRect">
            <a:avLst>
              <a:gd name="adj" fmla="val 4667"/>
            </a:avLst>
          </a:prstGeom>
          <a:solidFill>
            <a:srgbClr val="FFFFFF"/>
          </a:solidFill>
          <a:ln w="19050">
            <a:solidFill>
              <a:srgbClr val="E4E1D8"/>
            </a:solidFill>
            <a:prstDash val="solid"/>
          </a:ln>
        </p:spPr>
      </p:sp>
      <p:sp>
        <p:nvSpPr>
          <p:cNvPr id="9" name="Text 7"/>
          <p:cNvSpPr txBox="1"/>
          <p:nvPr/>
        </p:nvSpPr>
        <p:spPr>
          <a:xfrm>
            <a:off x="4691786" y="2633472"/>
            <a:ext cx="914400" cy="310896"/>
          </a:xfrm>
          <a:prstGeom prst="rect">
            <a:avLst/>
          </a:prstGeom>
          <a:noFill/>
          <a:ln/>
        </p:spPr>
        <p:txBody>
          <a:bodyPr wrap="square" lIns="0" tIns="0" rIns="0" bIns="0" rtlCol="0" anchor="ctr"/>
          <a:lstStyle/>
          <a:p>
            <a:pPr indent="0" marL="0">
              <a:buNone/>
            </a:pPr>
            <a:r>
              <a:rPr lang="en-US" sz="1300" spc="140" kern="0" dirty="0">
                <a:solidFill>
                  <a:srgbClr val="C1485A"/>
                </a:solidFill>
                <a:latin typeface="Courier New" pitchFamily="34" charset="0"/>
                <a:ea typeface="Courier New" pitchFamily="34" charset="-122"/>
                <a:cs typeface="Courier New" pitchFamily="34" charset="-120"/>
              </a:rPr>
              <a:t>02</a:t>
            </a:r>
            <a:endParaRPr lang="en-US" sz="1300" dirty="0"/>
          </a:p>
        </p:txBody>
      </p:sp>
      <p:sp>
        <p:nvSpPr>
          <p:cNvPr id="10" name="Text 8"/>
          <p:cNvSpPr txBox="1"/>
          <p:nvPr/>
        </p:nvSpPr>
        <p:spPr>
          <a:xfrm>
            <a:off x="4691786" y="3054096"/>
            <a:ext cx="2808122" cy="731520"/>
          </a:xfrm>
          <a:prstGeom prst="rect">
            <a:avLst/>
          </a:prstGeom>
          <a:noFill/>
          <a:ln/>
        </p:spPr>
        <p:txBody>
          <a:bodyPr wrap="square" lIns="0" tIns="0" rIns="0" bIns="0" rtlCol="0" anchor="t"/>
          <a:lstStyle/>
          <a:p>
            <a:pPr indent="0" marL="0">
              <a:lnSpc>
                <a:spcPct val="100000"/>
              </a:lnSpc>
              <a:buNone/>
            </a:pPr>
            <a:r>
              <a:rPr lang="en-US" sz="1900" dirty="0">
                <a:solidFill>
                  <a:srgbClr val="181A1E"/>
                </a:solidFill>
                <a:latin typeface="Cambria" pitchFamily="34" charset="0"/>
                <a:ea typeface="Cambria" pitchFamily="34" charset="-122"/>
                <a:cs typeface="Cambria" pitchFamily="34" charset="-120"/>
              </a:rPr>
              <a:t>Publish, do not sell</a:t>
            </a:r>
            <a:endParaRPr lang="en-US" sz="1900" dirty="0"/>
          </a:p>
        </p:txBody>
      </p:sp>
      <p:sp>
        <p:nvSpPr>
          <p:cNvPr id="11" name="Text 9"/>
          <p:cNvSpPr txBox="1"/>
          <p:nvPr/>
        </p:nvSpPr>
        <p:spPr>
          <a:xfrm>
            <a:off x="4691786" y="3877056"/>
            <a:ext cx="2808122" cy="1097280"/>
          </a:xfrm>
          <a:prstGeom prst="rect">
            <a:avLst/>
          </a:prstGeom>
          <a:noFill/>
          <a:ln/>
        </p:spPr>
        <p:txBody>
          <a:bodyPr wrap="square" lIns="0" tIns="0" rIns="0" bIns="0" rtlCol="0" anchor="t"/>
          <a:lstStyle/>
          <a:p>
            <a:pPr indent="0" marL="0">
              <a:lnSpc>
                <a:spcPct val="118000"/>
              </a:lnSpc>
              <a:buNone/>
            </a:pPr>
            <a:r>
              <a:rPr lang="en-US" sz="1350" dirty="0">
                <a:solidFill>
                  <a:srgbClr val="4B5058"/>
                </a:solidFill>
                <a:latin typeface="Calibri" pitchFamily="34" charset="0"/>
                <a:ea typeface="Calibri" pitchFamily="34" charset="-122"/>
                <a:cs typeface="Calibri" pitchFamily="34" charset="-120"/>
              </a:rPr>
              <a:t>Put the organ maps out in public. In this field the tool that scientists cite is the tool their company ends up buying.</a:t>
            </a:r>
            <a:endParaRPr lang="en-US" sz="1350" dirty="0"/>
          </a:p>
        </p:txBody>
      </p:sp>
      <p:sp>
        <p:nvSpPr>
          <p:cNvPr id="12" name="Shape 10"/>
          <p:cNvSpPr/>
          <p:nvPr/>
        </p:nvSpPr>
        <p:spPr>
          <a:xfrm>
            <a:off x="8121701" y="2359152"/>
            <a:ext cx="3429914" cy="2743200"/>
          </a:xfrm>
          <a:prstGeom prst="roundRect">
            <a:avLst>
              <a:gd name="adj" fmla="val 4667"/>
            </a:avLst>
          </a:prstGeom>
          <a:solidFill>
            <a:srgbClr val="FFFFFF"/>
          </a:solidFill>
          <a:ln w="19050">
            <a:solidFill>
              <a:srgbClr val="E4E1D8"/>
            </a:solidFill>
            <a:prstDash val="solid"/>
          </a:ln>
        </p:spPr>
      </p:sp>
      <p:sp>
        <p:nvSpPr>
          <p:cNvPr id="13" name="Text 11"/>
          <p:cNvSpPr txBox="1"/>
          <p:nvPr/>
        </p:nvSpPr>
        <p:spPr>
          <a:xfrm>
            <a:off x="8432597" y="2633472"/>
            <a:ext cx="914400" cy="310896"/>
          </a:xfrm>
          <a:prstGeom prst="rect">
            <a:avLst/>
          </a:prstGeom>
          <a:noFill/>
          <a:ln/>
        </p:spPr>
        <p:txBody>
          <a:bodyPr wrap="square" lIns="0" tIns="0" rIns="0" bIns="0" rtlCol="0" anchor="ctr"/>
          <a:lstStyle/>
          <a:p>
            <a:pPr indent="0" marL="0">
              <a:buNone/>
            </a:pPr>
            <a:r>
              <a:rPr lang="en-US" sz="1300" spc="140" kern="0" dirty="0">
                <a:solidFill>
                  <a:srgbClr val="C1485A"/>
                </a:solidFill>
                <a:latin typeface="Courier New" pitchFamily="34" charset="0"/>
                <a:ea typeface="Courier New" pitchFamily="34" charset="-122"/>
                <a:cs typeface="Courier New" pitchFamily="34" charset="-120"/>
              </a:rPr>
              <a:t>03</a:t>
            </a:r>
            <a:endParaRPr lang="en-US" sz="1300" dirty="0"/>
          </a:p>
        </p:txBody>
      </p:sp>
      <p:sp>
        <p:nvSpPr>
          <p:cNvPr id="14" name="Text 12"/>
          <p:cNvSpPr txBox="1"/>
          <p:nvPr/>
        </p:nvSpPr>
        <p:spPr>
          <a:xfrm>
            <a:off x="8432597" y="3054096"/>
            <a:ext cx="2808122" cy="731520"/>
          </a:xfrm>
          <a:prstGeom prst="rect">
            <a:avLst/>
          </a:prstGeom>
          <a:noFill/>
          <a:ln/>
        </p:spPr>
        <p:txBody>
          <a:bodyPr wrap="square" lIns="0" tIns="0" rIns="0" bIns="0" rtlCol="0" anchor="t"/>
          <a:lstStyle/>
          <a:p>
            <a:pPr indent="0" marL="0">
              <a:lnSpc>
                <a:spcPct val="100000"/>
              </a:lnSpc>
              <a:buNone/>
            </a:pPr>
            <a:r>
              <a:rPr lang="en-US" sz="1900" dirty="0">
                <a:solidFill>
                  <a:srgbClr val="181A1E"/>
                </a:solidFill>
                <a:latin typeface="Cambria" pitchFamily="34" charset="0"/>
                <a:ea typeface="Cambria" pitchFamily="34" charset="-122"/>
                <a:cs typeface="Cambria" pitchFamily="34" charset="-120"/>
              </a:rPr>
              <a:t>One design partner</a:t>
            </a:r>
            <a:endParaRPr lang="en-US" sz="1900" dirty="0"/>
          </a:p>
        </p:txBody>
      </p:sp>
      <p:sp>
        <p:nvSpPr>
          <p:cNvPr id="15" name="Text 13"/>
          <p:cNvSpPr txBox="1"/>
          <p:nvPr/>
        </p:nvSpPr>
        <p:spPr>
          <a:xfrm>
            <a:off x="8432597" y="3877056"/>
            <a:ext cx="2808122" cy="1097280"/>
          </a:xfrm>
          <a:prstGeom prst="rect">
            <a:avLst/>
          </a:prstGeom>
          <a:noFill/>
          <a:ln/>
        </p:spPr>
        <p:txBody>
          <a:bodyPr wrap="square" lIns="0" tIns="0" rIns="0" bIns="0" rtlCol="0" anchor="t"/>
          <a:lstStyle/>
          <a:p>
            <a:pPr indent="0" marL="0">
              <a:lnSpc>
                <a:spcPct val="118000"/>
              </a:lnSpc>
              <a:buNone/>
            </a:pPr>
            <a:r>
              <a:rPr lang="en-US" sz="1350" dirty="0">
                <a:solidFill>
                  <a:srgbClr val="4B5058"/>
                </a:solidFill>
                <a:latin typeface="Calibri" pitchFamily="34" charset="0"/>
                <a:ea typeface="Calibri" pitchFamily="34" charset="-122"/>
                <a:cs typeface="Calibri" pitchFamily="34" charset="-120"/>
              </a:rPr>
              <a:t>One team, their real molecules, every prediction logged before they get the lab result back.</a:t>
            </a:r>
            <a:endParaRPr lang="en-US" sz="1350" dirty="0"/>
          </a:p>
        </p:txBody>
      </p:sp>
      <p:sp>
        <p:nvSpPr>
          <p:cNvPr id="16" name="Text 14"/>
          <p:cNvSpPr txBox="1"/>
          <p:nvPr/>
        </p:nvSpPr>
        <p:spPr>
          <a:xfrm>
            <a:off x="10637215" y="6437376"/>
            <a:ext cx="914400" cy="219456"/>
          </a:xfrm>
          <a:prstGeom prst="rect">
            <a:avLst/>
          </a:prstGeom>
          <a:noFill/>
          <a:ln/>
        </p:spPr>
        <p:txBody>
          <a:bodyPr wrap="square" lIns="0" tIns="0" rIns="0" bIns="0" rtlCol="0" anchor="ctr"/>
          <a:lstStyle/>
          <a:p>
            <a:pPr algn="r" indent="0" marL="0">
              <a:buNone/>
            </a:pPr>
            <a:r>
              <a:rPr lang="en-US" sz="900" dirty="0">
                <a:solidFill>
                  <a:srgbClr val="82868E"/>
                </a:solidFill>
                <a:latin typeface="Courier New" pitchFamily="34" charset="0"/>
                <a:ea typeface="Courier New" pitchFamily="34" charset="-122"/>
                <a:cs typeface="Courier New"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BF8"/>
        </a:solidFill>
      </p:bgPr>
    </p:bg>
    <p:spTree>
      <p:nvGrpSpPr>
        <p:cNvPr id="1" name=""/>
        <p:cNvGrpSpPr/>
        <p:nvPr/>
      </p:nvGrpSpPr>
      <p:grpSpPr>
        <a:xfrm>
          <a:off x="0" y="0"/>
          <a:ext cx="0" cy="0"/>
          <a:chOff x="0" y="0"/>
          <a:chExt cx="0" cy="0"/>
        </a:xfrm>
      </p:grpSpPr>
      <p:sp>
        <p:nvSpPr>
          <p:cNvPr id="2" name="Text 0"/>
          <p:cNvSpPr txBox="1"/>
          <p:nvPr/>
        </p:nvSpPr>
        <p:spPr>
          <a:xfrm>
            <a:off x="640080" y="640080"/>
            <a:ext cx="10911535" cy="237744"/>
          </a:xfrm>
          <a:prstGeom prst="rect">
            <a:avLst/>
          </a:prstGeom>
          <a:noFill/>
          <a:ln/>
        </p:spPr>
        <p:txBody>
          <a:bodyPr wrap="square" lIns="0" tIns="0" rIns="0" bIns="0" rtlCol="0" anchor="ctr"/>
          <a:lstStyle/>
          <a:p>
            <a:pPr indent="0" marL="0">
              <a:buNone/>
            </a:pPr>
            <a:r>
              <a:rPr lang="en-US" sz="1000" spc="180" kern="0" dirty="0">
                <a:solidFill>
                  <a:srgbClr val="C1485A"/>
                </a:solidFill>
                <a:latin typeface="Courier New" pitchFamily="34" charset="0"/>
                <a:ea typeface="Courier New" pitchFamily="34" charset="-122"/>
                <a:cs typeface="Courier New" pitchFamily="34" charset="-120"/>
              </a:rPr>
              <a:t>METRICS</a:t>
            </a:r>
            <a:endParaRPr lang="en-US" sz="1000" dirty="0"/>
          </a:p>
        </p:txBody>
      </p:sp>
      <p:sp>
        <p:nvSpPr>
          <p:cNvPr id="3" name="Text 1"/>
          <p:cNvSpPr txBox="1"/>
          <p:nvPr/>
        </p:nvSpPr>
        <p:spPr>
          <a:xfrm>
            <a:off x="640080" y="987552"/>
            <a:ext cx="10911535" cy="658368"/>
          </a:xfrm>
          <a:prstGeom prst="rect">
            <a:avLst/>
          </a:prstGeom>
          <a:noFill/>
          <a:ln/>
        </p:spPr>
        <p:txBody>
          <a:bodyPr wrap="square" lIns="0" tIns="0" rIns="0" bIns="0" rtlCol="0" anchor="t"/>
          <a:lstStyle/>
          <a:p>
            <a:pPr indent="0" marL="0">
              <a:lnSpc>
                <a:spcPct val="98000"/>
              </a:lnSpc>
              <a:buNone/>
            </a:pPr>
            <a:r>
              <a:rPr lang="en-US" sz="3600" dirty="0">
                <a:solidFill>
                  <a:srgbClr val="181A1E"/>
                </a:solidFill>
                <a:latin typeface="Cambria" pitchFamily="34" charset="0"/>
                <a:ea typeface="Cambria" pitchFamily="34" charset="-122"/>
                <a:cs typeface="Cambria" pitchFamily="34" charset="-120"/>
              </a:rPr>
              <a:t>Three numbers, and we will publish all three.</a:t>
            </a:r>
            <a:endParaRPr lang="en-US" sz="3600" dirty="0"/>
          </a:p>
        </p:txBody>
      </p:sp>
      <p:sp>
        <p:nvSpPr>
          <p:cNvPr id="4" name="Shape 2"/>
          <p:cNvSpPr/>
          <p:nvPr/>
        </p:nvSpPr>
        <p:spPr>
          <a:xfrm>
            <a:off x="640080" y="1920240"/>
            <a:ext cx="3429914" cy="2377440"/>
          </a:xfrm>
          <a:prstGeom prst="roundRect">
            <a:avLst>
              <a:gd name="adj" fmla="val 5385"/>
            </a:avLst>
          </a:prstGeom>
          <a:solidFill>
            <a:srgbClr val="FFFFFF"/>
          </a:solidFill>
          <a:ln w="19050">
            <a:solidFill>
              <a:srgbClr val="E4E1D8"/>
            </a:solidFill>
            <a:prstDash val="solid"/>
          </a:ln>
        </p:spPr>
      </p:sp>
      <p:sp>
        <p:nvSpPr>
          <p:cNvPr id="5" name="Text 3"/>
          <p:cNvSpPr txBox="1"/>
          <p:nvPr/>
        </p:nvSpPr>
        <p:spPr>
          <a:xfrm>
            <a:off x="950976" y="2212848"/>
            <a:ext cx="2808122" cy="731520"/>
          </a:xfrm>
          <a:prstGeom prst="rect">
            <a:avLst/>
          </a:prstGeom>
          <a:noFill/>
          <a:ln/>
        </p:spPr>
        <p:txBody>
          <a:bodyPr wrap="square" lIns="0" tIns="0" rIns="0" bIns="0" rtlCol="0" anchor="t"/>
          <a:lstStyle/>
          <a:p>
            <a:pPr indent="0" marL="0">
              <a:lnSpc>
                <a:spcPct val="100000"/>
              </a:lnSpc>
              <a:buNone/>
            </a:pPr>
            <a:r>
              <a:rPr lang="en-US" sz="2100" dirty="0">
                <a:solidFill>
                  <a:srgbClr val="181A1E"/>
                </a:solidFill>
                <a:latin typeface="Cambria" pitchFamily="34" charset="0"/>
                <a:ea typeface="Cambria" pitchFamily="34" charset="-122"/>
                <a:cs typeface="Cambria" pitchFamily="34" charset="-120"/>
              </a:rPr>
              <a:t>Were we right?</a:t>
            </a:r>
            <a:endParaRPr lang="en-US" sz="2100" dirty="0"/>
          </a:p>
        </p:txBody>
      </p:sp>
      <p:sp>
        <p:nvSpPr>
          <p:cNvPr id="6" name="Text 4"/>
          <p:cNvSpPr txBox="1"/>
          <p:nvPr/>
        </p:nvSpPr>
        <p:spPr>
          <a:xfrm>
            <a:off x="950976" y="3017520"/>
            <a:ext cx="2808122" cy="1097280"/>
          </a:xfrm>
          <a:prstGeom prst="rect">
            <a:avLst/>
          </a:prstGeom>
          <a:noFill/>
          <a:ln/>
        </p:spPr>
        <p:txBody>
          <a:bodyPr wrap="square" lIns="0" tIns="0" rIns="0" bIns="0" rtlCol="0" anchor="t"/>
          <a:lstStyle/>
          <a:p>
            <a:pPr indent="0" marL="0">
              <a:lnSpc>
                <a:spcPct val="118000"/>
              </a:lnSpc>
              <a:buNone/>
            </a:pPr>
            <a:r>
              <a:rPr lang="en-US" sz="1350" dirty="0">
                <a:solidFill>
                  <a:srgbClr val="4B5058"/>
                </a:solidFill>
                <a:latin typeface="Calibri" pitchFamily="34" charset="0"/>
                <a:ea typeface="Calibri" pitchFamily="34" charset="-122"/>
                <a:cs typeface="Calibri" pitchFamily="34" charset="-120"/>
              </a:rPr>
              <a:t>For every molecule we score, did the organ we named turn out to be the organ that was harmed? Logged before the answer is known.</a:t>
            </a:r>
            <a:endParaRPr lang="en-US" sz="1350" dirty="0"/>
          </a:p>
        </p:txBody>
      </p:sp>
      <p:sp>
        <p:nvSpPr>
          <p:cNvPr id="7" name="Shape 5"/>
          <p:cNvSpPr/>
          <p:nvPr/>
        </p:nvSpPr>
        <p:spPr>
          <a:xfrm>
            <a:off x="4380890" y="1920240"/>
            <a:ext cx="3429914" cy="2377440"/>
          </a:xfrm>
          <a:prstGeom prst="roundRect">
            <a:avLst>
              <a:gd name="adj" fmla="val 5385"/>
            </a:avLst>
          </a:prstGeom>
          <a:solidFill>
            <a:srgbClr val="FFFFFF"/>
          </a:solidFill>
          <a:ln w="19050">
            <a:solidFill>
              <a:srgbClr val="E4E1D8"/>
            </a:solidFill>
            <a:prstDash val="solid"/>
          </a:ln>
        </p:spPr>
      </p:sp>
      <p:sp>
        <p:nvSpPr>
          <p:cNvPr id="8" name="Text 6"/>
          <p:cNvSpPr txBox="1"/>
          <p:nvPr/>
        </p:nvSpPr>
        <p:spPr>
          <a:xfrm>
            <a:off x="4691786" y="2212848"/>
            <a:ext cx="2808122" cy="731520"/>
          </a:xfrm>
          <a:prstGeom prst="rect">
            <a:avLst/>
          </a:prstGeom>
          <a:noFill/>
          <a:ln/>
        </p:spPr>
        <p:txBody>
          <a:bodyPr wrap="square" lIns="0" tIns="0" rIns="0" bIns="0" rtlCol="0" anchor="t"/>
          <a:lstStyle/>
          <a:p>
            <a:pPr indent="0" marL="0">
              <a:lnSpc>
                <a:spcPct val="100000"/>
              </a:lnSpc>
              <a:buNone/>
            </a:pPr>
            <a:r>
              <a:rPr lang="en-US" sz="2100" dirty="0">
                <a:solidFill>
                  <a:srgbClr val="181A1E"/>
                </a:solidFill>
                <a:latin typeface="Cambria" pitchFamily="34" charset="0"/>
                <a:ea typeface="Cambria" pitchFamily="34" charset="-122"/>
                <a:cs typeface="Cambria" pitchFamily="34" charset="-120"/>
              </a:rPr>
              <a:t>Did they come back?</a:t>
            </a:r>
            <a:endParaRPr lang="en-US" sz="2100" dirty="0"/>
          </a:p>
        </p:txBody>
      </p:sp>
      <p:sp>
        <p:nvSpPr>
          <p:cNvPr id="9" name="Text 7"/>
          <p:cNvSpPr txBox="1"/>
          <p:nvPr/>
        </p:nvSpPr>
        <p:spPr>
          <a:xfrm>
            <a:off x="4691786" y="3017520"/>
            <a:ext cx="2808122" cy="1097280"/>
          </a:xfrm>
          <a:prstGeom prst="rect">
            <a:avLst/>
          </a:prstGeom>
          <a:noFill/>
          <a:ln/>
        </p:spPr>
        <p:txBody>
          <a:bodyPr wrap="square" lIns="0" tIns="0" rIns="0" bIns="0" rtlCol="0" anchor="t"/>
          <a:lstStyle/>
          <a:p>
            <a:pPr indent="0" marL="0">
              <a:lnSpc>
                <a:spcPct val="118000"/>
              </a:lnSpc>
              <a:buNone/>
            </a:pPr>
            <a:r>
              <a:rPr lang="en-US" sz="1350" dirty="0">
                <a:solidFill>
                  <a:srgbClr val="4B5058"/>
                </a:solidFill>
                <a:latin typeface="Calibri" pitchFamily="34" charset="0"/>
                <a:ea typeface="Calibri" pitchFamily="34" charset="-122"/>
                <a:cs typeface="Calibri" pitchFamily="34" charset="-120"/>
              </a:rPr>
              <a:t>A second question from the same scientist. Not signups, not demos. A second question.</a:t>
            </a:r>
            <a:endParaRPr lang="en-US" sz="1350" dirty="0"/>
          </a:p>
        </p:txBody>
      </p:sp>
      <p:sp>
        <p:nvSpPr>
          <p:cNvPr id="10" name="Shape 8"/>
          <p:cNvSpPr/>
          <p:nvPr/>
        </p:nvSpPr>
        <p:spPr>
          <a:xfrm>
            <a:off x="8121701" y="1920240"/>
            <a:ext cx="3429914" cy="2377440"/>
          </a:xfrm>
          <a:prstGeom prst="roundRect">
            <a:avLst>
              <a:gd name="adj" fmla="val 5385"/>
            </a:avLst>
          </a:prstGeom>
          <a:solidFill>
            <a:srgbClr val="FBEAEC"/>
          </a:solidFill>
          <a:ln w="19050">
            <a:solidFill>
              <a:srgbClr val="C1485A"/>
            </a:solidFill>
            <a:prstDash val="solid"/>
          </a:ln>
        </p:spPr>
      </p:sp>
      <p:sp>
        <p:nvSpPr>
          <p:cNvPr id="11" name="Text 9"/>
          <p:cNvSpPr txBox="1"/>
          <p:nvPr/>
        </p:nvSpPr>
        <p:spPr>
          <a:xfrm>
            <a:off x="8432597" y="2212848"/>
            <a:ext cx="2808122" cy="731520"/>
          </a:xfrm>
          <a:prstGeom prst="rect">
            <a:avLst/>
          </a:prstGeom>
          <a:noFill/>
          <a:ln/>
        </p:spPr>
        <p:txBody>
          <a:bodyPr wrap="square" lIns="0" tIns="0" rIns="0" bIns="0" rtlCol="0" anchor="t"/>
          <a:lstStyle/>
          <a:p>
            <a:pPr indent="0" marL="0">
              <a:lnSpc>
                <a:spcPct val="100000"/>
              </a:lnSpc>
              <a:buNone/>
            </a:pPr>
            <a:r>
              <a:rPr lang="en-US" sz="2100" dirty="0">
                <a:solidFill>
                  <a:srgbClr val="7C2A38"/>
                </a:solidFill>
                <a:latin typeface="Cambria" pitchFamily="34" charset="0"/>
                <a:ea typeface="Cambria" pitchFamily="34" charset="-122"/>
                <a:cs typeface="Cambria" pitchFamily="34" charset="-120"/>
              </a:rPr>
              <a:t>Did it change a decision?</a:t>
            </a:r>
            <a:endParaRPr lang="en-US" sz="2100" dirty="0"/>
          </a:p>
        </p:txBody>
      </p:sp>
      <p:sp>
        <p:nvSpPr>
          <p:cNvPr id="12" name="Text 10"/>
          <p:cNvSpPr txBox="1"/>
          <p:nvPr/>
        </p:nvSpPr>
        <p:spPr>
          <a:xfrm>
            <a:off x="8432597" y="3017520"/>
            <a:ext cx="2808122" cy="1097280"/>
          </a:xfrm>
          <a:prstGeom prst="rect">
            <a:avLst/>
          </a:prstGeom>
          <a:noFill/>
          <a:ln/>
        </p:spPr>
        <p:txBody>
          <a:bodyPr wrap="square" lIns="0" tIns="0" rIns="0" bIns="0" rtlCol="0" anchor="t"/>
          <a:lstStyle/>
          <a:p>
            <a:pPr indent="0" marL="0">
              <a:lnSpc>
                <a:spcPct val="118000"/>
              </a:lnSpc>
              <a:buNone/>
            </a:pPr>
            <a:r>
              <a:rPr lang="en-US" sz="1350" dirty="0">
                <a:solidFill>
                  <a:srgbClr val="4B5058"/>
                </a:solidFill>
                <a:latin typeface="Calibri" pitchFamily="34" charset="0"/>
                <a:ea typeface="Calibri" pitchFamily="34" charset="-122"/>
                <a:cs typeface="Calibri" pitchFamily="34" charset="-120"/>
              </a:rPr>
              <a:t>The only one that matters. Did a team drop, redesign or reorder a candidate because of what we showed them?</a:t>
            </a:r>
            <a:endParaRPr lang="en-US" sz="1350" dirty="0"/>
          </a:p>
        </p:txBody>
      </p:sp>
      <p:sp>
        <p:nvSpPr>
          <p:cNvPr id="13" name="Text 11"/>
          <p:cNvSpPr txBox="1"/>
          <p:nvPr/>
        </p:nvSpPr>
        <p:spPr>
          <a:xfrm>
            <a:off x="640080" y="4608576"/>
            <a:ext cx="10911535" cy="457200"/>
          </a:xfrm>
          <a:prstGeom prst="rect">
            <a:avLst/>
          </a:prstGeom>
          <a:noFill/>
          <a:ln/>
        </p:spPr>
        <p:txBody>
          <a:bodyPr wrap="square" lIns="0" tIns="0" rIns="0" bIns="0" rtlCol="0" anchor="ctr"/>
          <a:lstStyle/>
          <a:p>
            <a:pPr indent="0" marL="0">
              <a:buNone/>
            </a:pPr>
            <a:r>
              <a:rPr lang="en-US" sz="1600" i="1" dirty="0">
                <a:solidFill>
                  <a:srgbClr val="181A1E"/>
                </a:solidFill>
                <a:latin typeface="Cambria" pitchFamily="34" charset="0"/>
                <a:ea typeface="Cambria" pitchFamily="34" charset="-122"/>
                <a:cs typeface="Cambria" pitchFamily="34" charset="-120"/>
              </a:rPr>
              <a:t>If the first number is bad, we will say so publicly. A safety tool that is quietly wrong is worse than no tool at all.</a:t>
            </a:r>
            <a:endParaRPr lang="en-US" sz="1600" dirty="0"/>
          </a:p>
        </p:txBody>
      </p:sp>
      <p:sp>
        <p:nvSpPr>
          <p:cNvPr id="14" name="Text 12"/>
          <p:cNvSpPr txBox="1"/>
          <p:nvPr/>
        </p:nvSpPr>
        <p:spPr>
          <a:xfrm>
            <a:off x="10637215" y="6437376"/>
            <a:ext cx="914400" cy="219456"/>
          </a:xfrm>
          <a:prstGeom prst="rect">
            <a:avLst/>
          </a:prstGeom>
          <a:noFill/>
          <a:ln/>
        </p:spPr>
        <p:txBody>
          <a:bodyPr wrap="square" lIns="0" tIns="0" rIns="0" bIns="0" rtlCol="0" anchor="ctr"/>
          <a:lstStyle/>
          <a:p>
            <a:pPr algn="r" indent="0" marL="0">
              <a:buNone/>
            </a:pPr>
            <a:r>
              <a:rPr lang="en-US" sz="900" dirty="0">
                <a:solidFill>
                  <a:srgbClr val="82868E"/>
                </a:solidFill>
                <a:latin typeface="Courier New" pitchFamily="34" charset="0"/>
                <a:ea typeface="Courier New" pitchFamily="34" charset="-122"/>
                <a:cs typeface="Courier New"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BF8"/>
        </a:solidFill>
      </p:bgPr>
    </p:bg>
    <p:spTree>
      <p:nvGrpSpPr>
        <p:cNvPr id="1" name=""/>
        <p:cNvGrpSpPr/>
        <p:nvPr/>
      </p:nvGrpSpPr>
      <p:grpSpPr>
        <a:xfrm>
          <a:off x="0" y="0"/>
          <a:ext cx="0" cy="0"/>
          <a:chOff x="0" y="0"/>
          <a:chExt cx="0" cy="0"/>
        </a:xfrm>
      </p:grpSpPr>
      <p:sp>
        <p:nvSpPr>
          <p:cNvPr id="2" name="Text 0"/>
          <p:cNvSpPr txBox="1"/>
          <p:nvPr/>
        </p:nvSpPr>
        <p:spPr>
          <a:xfrm>
            <a:off x="640080" y="640080"/>
            <a:ext cx="10911535" cy="237744"/>
          </a:xfrm>
          <a:prstGeom prst="rect">
            <a:avLst/>
          </a:prstGeom>
          <a:noFill/>
          <a:ln/>
        </p:spPr>
        <p:txBody>
          <a:bodyPr wrap="square" lIns="0" tIns="0" rIns="0" bIns="0" rtlCol="0" anchor="ctr"/>
          <a:lstStyle/>
          <a:p>
            <a:pPr indent="0" marL="0">
              <a:buNone/>
            </a:pPr>
            <a:r>
              <a:rPr lang="en-US" sz="1000" spc="180" kern="0" dirty="0">
                <a:solidFill>
                  <a:srgbClr val="C1485A"/>
                </a:solidFill>
                <a:latin typeface="Courier New" pitchFamily="34" charset="0"/>
                <a:ea typeface="Courier New" pitchFamily="34" charset="-122"/>
                <a:cs typeface="Courier New" pitchFamily="34" charset="-120"/>
              </a:rPr>
              <a:t>TEAM</a:t>
            </a:r>
            <a:endParaRPr lang="en-US" sz="1000" dirty="0"/>
          </a:p>
        </p:txBody>
      </p:sp>
      <p:sp>
        <p:nvSpPr>
          <p:cNvPr id="3" name="Text 1"/>
          <p:cNvSpPr txBox="1"/>
          <p:nvPr/>
        </p:nvSpPr>
        <p:spPr>
          <a:xfrm>
            <a:off x="640080" y="987552"/>
            <a:ext cx="10911535" cy="1097280"/>
          </a:xfrm>
          <a:prstGeom prst="rect">
            <a:avLst/>
          </a:prstGeom>
          <a:noFill/>
          <a:ln/>
        </p:spPr>
        <p:txBody>
          <a:bodyPr wrap="square" lIns="0" tIns="0" rIns="0" bIns="0" rtlCol="0" anchor="t"/>
          <a:lstStyle/>
          <a:p>
            <a:pPr indent="0" marL="0">
              <a:lnSpc>
                <a:spcPct val="98000"/>
              </a:lnSpc>
              <a:buNone/>
            </a:pPr>
            <a:r>
              <a:rPr lang="en-US" sz="3200" dirty="0">
                <a:solidFill>
                  <a:srgbClr val="181A1E"/>
                </a:solidFill>
                <a:latin typeface="Cambria" pitchFamily="34" charset="0"/>
                <a:ea typeface="Cambria" pitchFamily="34" charset="-122"/>
                <a:cs typeface="Cambria" pitchFamily="34" charset="-120"/>
              </a:rPr>
              <a:t>We met on day one of this school. We built the thing by day three.</a:t>
            </a:r>
            <a:endParaRPr lang="en-US" sz="3200" dirty="0"/>
          </a:p>
        </p:txBody>
      </p:sp>
      <p:sp>
        <p:nvSpPr>
          <p:cNvPr id="4" name="Shape 2"/>
          <p:cNvSpPr/>
          <p:nvPr/>
        </p:nvSpPr>
        <p:spPr>
          <a:xfrm>
            <a:off x="640080" y="2359152"/>
            <a:ext cx="2522144" cy="2286000"/>
          </a:xfrm>
          <a:prstGeom prst="roundRect">
            <a:avLst>
              <a:gd name="adj" fmla="val 5600"/>
            </a:avLst>
          </a:prstGeom>
          <a:solidFill>
            <a:srgbClr val="FFFFFF"/>
          </a:solidFill>
          <a:ln w="19050">
            <a:solidFill>
              <a:srgbClr val="E4E1D8"/>
            </a:solidFill>
            <a:prstDash val="solid"/>
          </a:ln>
        </p:spPr>
      </p:sp>
      <p:sp>
        <p:nvSpPr>
          <p:cNvPr id="5" name="Text 3"/>
          <p:cNvSpPr txBox="1"/>
          <p:nvPr/>
        </p:nvSpPr>
        <p:spPr>
          <a:xfrm>
            <a:off x="914400" y="2633472"/>
            <a:ext cx="1973504" cy="457200"/>
          </a:xfrm>
          <a:prstGeom prst="rect">
            <a:avLst/>
          </a:prstGeom>
          <a:noFill/>
          <a:ln/>
        </p:spPr>
        <p:txBody>
          <a:bodyPr wrap="square" lIns="0" tIns="0" rIns="0" bIns="0" rtlCol="0" anchor="t"/>
          <a:lstStyle/>
          <a:p>
            <a:pPr indent="0" marL="0">
              <a:lnSpc>
                <a:spcPct val="120000"/>
              </a:lnSpc>
              <a:buNone/>
            </a:pPr>
            <a:r>
              <a:rPr lang="en-US" sz="1000" spc="120" kern="0" dirty="0">
                <a:solidFill>
                  <a:srgbClr val="C1485A"/>
                </a:solidFill>
                <a:latin typeface="Courier New" pitchFamily="34" charset="0"/>
                <a:ea typeface="Courier New" pitchFamily="34" charset="-122"/>
                <a:cs typeface="Courier New" pitchFamily="34" charset="-120"/>
              </a:rPr>
              <a:t>PRODUCT AND ENGINEERING</a:t>
            </a:r>
            <a:endParaRPr lang="en-US" sz="1000" dirty="0"/>
          </a:p>
        </p:txBody>
      </p:sp>
      <p:sp>
        <p:nvSpPr>
          <p:cNvPr id="6" name="Text 4"/>
          <p:cNvSpPr txBox="1"/>
          <p:nvPr/>
        </p:nvSpPr>
        <p:spPr>
          <a:xfrm>
            <a:off x="914400" y="3218688"/>
            <a:ext cx="1973504" cy="402336"/>
          </a:xfrm>
          <a:prstGeom prst="rect">
            <a:avLst/>
          </a:prstGeom>
          <a:noFill/>
          <a:ln/>
        </p:spPr>
        <p:txBody>
          <a:bodyPr wrap="square" lIns="0" tIns="0" rIns="0" bIns="0" rtlCol="0" anchor="ctr"/>
          <a:lstStyle/>
          <a:p>
            <a:pPr indent="0" marL="0">
              <a:buNone/>
            </a:pPr>
            <a:r>
              <a:rPr lang="en-US" sz="1800" dirty="0">
                <a:solidFill>
                  <a:srgbClr val="181A1E"/>
                </a:solidFill>
                <a:latin typeface="Cambria" pitchFamily="34" charset="0"/>
                <a:ea typeface="Cambria" pitchFamily="34" charset="-122"/>
                <a:cs typeface="Cambria" pitchFamily="34" charset="-120"/>
              </a:rPr>
              <a:t>Sebastian Roy</a:t>
            </a:r>
            <a:endParaRPr lang="en-US" sz="1800" dirty="0"/>
          </a:p>
        </p:txBody>
      </p:sp>
      <p:sp>
        <p:nvSpPr>
          <p:cNvPr id="7" name="Text 5"/>
          <p:cNvSpPr txBox="1"/>
          <p:nvPr/>
        </p:nvSpPr>
        <p:spPr>
          <a:xfrm>
            <a:off x="914400" y="3694176"/>
            <a:ext cx="1973504" cy="822960"/>
          </a:xfrm>
          <a:prstGeom prst="rect">
            <a:avLst/>
          </a:prstGeom>
          <a:noFill/>
          <a:ln/>
        </p:spPr>
        <p:txBody>
          <a:bodyPr wrap="square" lIns="0" tIns="0" rIns="0" bIns="0" rtlCol="0" anchor="t"/>
          <a:lstStyle/>
          <a:p>
            <a:pPr indent="0" marL="0">
              <a:lnSpc>
                <a:spcPct val="118000"/>
              </a:lnSpc>
              <a:buNone/>
            </a:pPr>
            <a:r>
              <a:rPr lang="en-US" sz="1300" dirty="0">
                <a:solidFill>
                  <a:srgbClr val="4B5058"/>
                </a:solidFill>
                <a:latin typeface="Calibri" pitchFamily="34" charset="0"/>
                <a:ea typeface="Calibri" pitchFamily="34" charset="-122"/>
                <a:cs typeface="Calibri" pitchFamily="34" charset="-120"/>
              </a:rPr>
              <a:t>Builds and ships the platform.</a:t>
            </a:r>
            <a:endParaRPr lang="en-US" sz="1300" dirty="0"/>
          </a:p>
        </p:txBody>
      </p:sp>
      <p:sp>
        <p:nvSpPr>
          <p:cNvPr id="8" name="Shape 6"/>
          <p:cNvSpPr/>
          <p:nvPr/>
        </p:nvSpPr>
        <p:spPr>
          <a:xfrm>
            <a:off x="3436544" y="2359152"/>
            <a:ext cx="2522144" cy="2286000"/>
          </a:xfrm>
          <a:prstGeom prst="roundRect">
            <a:avLst>
              <a:gd name="adj" fmla="val 5600"/>
            </a:avLst>
          </a:prstGeom>
          <a:solidFill>
            <a:srgbClr val="FFFFFF"/>
          </a:solidFill>
          <a:ln w="19050">
            <a:solidFill>
              <a:srgbClr val="E4E1D8"/>
            </a:solidFill>
            <a:prstDash val="solid"/>
          </a:ln>
        </p:spPr>
      </p:sp>
      <p:sp>
        <p:nvSpPr>
          <p:cNvPr id="9" name="Text 7"/>
          <p:cNvSpPr txBox="1"/>
          <p:nvPr/>
        </p:nvSpPr>
        <p:spPr>
          <a:xfrm>
            <a:off x="3710864" y="2633472"/>
            <a:ext cx="1973504" cy="457200"/>
          </a:xfrm>
          <a:prstGeom prst="rect">
            <a:avLst/>
          </a:prstGeom>
          <a:noFill/>
          <a:ln/>
        </p:spPr>
        <p:txBody>
          <a:bodyPr wrap="square" lIns="0" tIns="0" rIns="0" bIns="0" rtlCol="0" anchor="t"/>
          <a:lstStyle/>
          <a:p>
            <a:pPr indent="0" marL="0">
              <a:lnSpc>
                <a:spcPct val="120000"/>
              </a:lnSpc>
              <a:buNone/>
            </a:pPr>
            <a:r>
              <a:rPr lang="en-US" sz="1000" spc="120" kern="0" dirty="0">
                <a:solidFill>
                  <a:srgbClr val="C1485A"/>
                </a:solidFill>
                <a:latin typeface="Courier New" pitchFamily="34" charset="0"/>
                <a:ea typeface="Courier New" pitchFamily="34" charset="-122"/>
                <a:cs typeface="Courier New" pitchFamily="34" charset="-120"/>
              </a:rPr>
              <a:t>TOXICOLOGY</a:t>
            </a:r>
            <a:endParaRPr lang="en-US" sz="1000" dirty="0"/>
          </a:p>
        </p:txBody>
      </p:sp>
      <p:sp>
        <p:nvSpPr>
          <p:cNvPr id="10" name="Text 8"/>
          <p:cNvSpPr txBox="1"/>
          <p:nvPr/>
        </p:nvSpPr>
        <p:spPr>
          <a:xfrm>
            <a:off x="3710864" y="3218688"/>
            <a:ext cx="1973504" cy="402336"/>
          </a:xfrm>
          <a:prstGeom prst="rect">
            <a:avLst/>
          </a:prstGeom>
          <a:noFill/>
          <a:ln/>
        </p:spPr>
        <p:txBody>
          <a:bodyPr wrap="square" lIns="0" tIns="0" rIns="0" bIns="0" rtlCol="0" anchor="ctr"/>
          <a:lstStyle/>
          <a:p>
            <a:pPr indent="0" marL="0">
              <a:buNone/>
            </a:pPr>
            <a:r>
              <a:rPr lang="en-US" sz="1800" dirty="0">
                <a:solidFill>
                  <a:srgbClr val="181A1E"/>
                </a:solidFill>
                <a:latin typeface="Cambria" pitchFamily="34" charset="0"/>
                <a:ea typeface="Cambria" pitchFamily="34" charset="-122"/>
                <a:cs typeface="Cambria" pitchFamily="34" charset="-120"/>
              </a:rPr>
              <a:t>[name]</a:t>
            </a:r>
            <a:endParaRPr lang="en-US" sz="1800" dirty="0"/>
          </a:p>
        </p:txBody>
      </p:sp>
      <p:sp>
        <p:nvSpPr>
          <p:cNvPr id="11" name="Text 9"/>
          <p:cNvSpPr txBox="1"/>
          <p:nvPr/>
        </p:nvSpPr>
        <p:spPr>
          <a:xfrm>
            <a:off x="3710864" y="3694176"/>
            <a:ext cx="1973504" cy="822960"/>
          </a:xfrm>
          <a:prstGeom prst="rect">
            <a:avLst/>
          </a:prstGeom>
          <a:noFill/>
          <a:ln/>
        </p:spPr>
        <p:txBody>
          <a:bodyPr wrap="square" lIns="0" tIns="0" rIns="0" bIns="0" rtlCol="0" anchor="t"/>
          <a:lstStyle/>
          <a:p>
            <a:pPr indent="0" marL="0">
              <a:lnSpc>
                <a:spcPct val="118000"/>
              </a:lnSpc>
              <a:buNone/>
            </a:pPr>
            <a:r>
              <a:rPr lang="en-US" sz="1300" dirty="0">
                <a:solidFill>
                  <a:srgbClr val="4B5058"/>
                </a:solidFill>
                <a:latin typeface="Calibri" pitchFamily="34" charset="0"/>
                <a:ea typeface="Calibri" pitchFamily="34" charset="-122"/>
                <a:cs typeface="Calibri" pitchFamily="34" charset="-120"/>
              </a:rPr>
              <a:t>Owns what the organ maps say and whether they are right.</a:t>
            </a:r>
            <a:endParaRPr lang="en-US" sz="1300" dirty="0"/>
          </a:p>
        </p:txBody>
      </p:sp>
      <p:sp>
        <p:nvSpPr>
          <p:cNvPr id="12" name="Shape 10"/>
          <p:cNvSpPr/>
          <p:nvPr/>
        </p:nvSpPr>
        <p:spPr>
          <a:xfrm>
            <a:off x="6233008" y="2359152"/>
            <a:ext cx="2522144" cy="2286000"/>
          </a:xfrm>
          <a:prstGeom prst="roundRect">
            <a:avLst>
              <a:gd name="adj" fmla="val 5600"/>
            </a:avLst>
          </a:prstGeom>
          <a:solidFill>
            <a:srgbClr val="FFFFFF"/>
          </a:solidFill>
          <a:ln w="19050">
            <a:solidFill>
              <a:srgbClr val="E4E1D8"/>
            </a:solidFill>
            <a:prstDash val="solid"/>
          </a:ln>
        </p:spPr>
      </p:sp>
      <p:sp>
        <p:nvSpPr>
          <p:cNvPr id="13" name="Text 11"/>
          <p:cNvSpPr txBox="1"/>
          <p:nvPr/>
        </p:nvSpPr>
        <p:spPr>
          <a:xfrm>
            <a:off x="6507328" y="2633472"/>
            <a:ext cx="1973504" cy="457200"/>
          </a:xfrm>
          <a:prstGeom prst="rect">
            <a:avLst/>
          </a:prstGeom>
          <a:noFill/>
          <a:ln/>
        </p:spPr>
        <p:txBody>
          <a:bodyPr wrap="square" lIns="0" tIns="0" rIns="0" bIns="0" rtlCol="0" anchor="t"/>
          <a:lstStyle/>
          <a:p>
            <a:pPr indent="0" marL="0">
              <a:lnSpc>
                <a:spcPct val="120000"/>
              </a:lnSpc>
              <a:buNone/>
            </a:pPr>
            <a:r>
              <a:rPr lang="en-US" sz="1000" spc="120" kern="0" dirty="0">
                <a:solidFill>
                  <a:srgbClr val="C1485A"/>
                </a:solidFill>
                <a:latin typeface="Courier New" pitchFamily="34" charset="0"/>
                <a:ea typeface="Courier New" pitchFamily="34" charset="-122"/>
                <a:cs typeface="Courier New" pitchFamily="34" charset="-120"/>
              </a:rPr>
              <a:t>DATA AND MODELLING</a:t>
            </a:r>
            <a:endParaRPr lang="en-US" sz="1000" dirty="0"/>
          </a:p>
        </p:txBody>
      </p:sp>
      <p:sp>
        <p:nvSpPr>
          <p:cNvPr id="14" name="Text 12"/>
          <p:cNvSpPr txBox="1"/>
          <p:nvPr/>
        </p:nvSpPr>
        <p:spPr>
          <a:xfrm>
            <a:off x="6507328" y="3218688"/>
            <a:ext cx="1973504" cy="402336"/>
          </a:xfrm>
          <a:prstGeom prst="rect">
            <a:avLst/>
          </a:prstGeom>
          <a:noFill/>
          <a:ln/>
        </p:spPr>
        <p:txBody>
          <a:bodyPr wrap="square" lIns="0" tIns="0" rIns="0" bIns="0" rtlCol="0" anchor="ctr"/>
          <a:lstStyle/>
          <a:p>
            <a:pPr indent="0" marL="0">
              <a:buNone/>
            </a:pPr>
            <a:r>
              <a:rPr lang="en-US" sz="1800" dirty="0">
                <a:solidFill>
                  <a:srgbClr val="181A1E"/>
                </a:solidFill>
                <a:latin typeface="Cambria" pitchFamily="34" charset="0"/>
                <a:ea typeface="Cambria" pitchFamily="34" charset="-122"/>
                <a:cs typeface="Cambria" pitchFamily="34" charset="-120"/>
              </a:rPr>
              <a:t>[name]</a:t>
            </a:r>
            <a:endParaRPr lang="en-US" sz="1800" dirty="0"/>
          </a:p>
        </p:txBody>
      </p:sp>
      <p:sp>
        <p:nvSpPr>
          <p:cNvPr id="15" name="Text 13"/>
          <p:cNvSpPr txBox="1"/>
          <p:nvPr/>
        </p:nvSpPr>
        <p:spPr>
          <a:xfrm>
            <a:off x="6507328" y="3694176"/>
            <a:ext cx="1973504" cy="822960"/>
          </a:xfrm>
          <a:prstGeom prst="rect">
            <a:avLst/>
          </a:prstGeom>
          <a:noFill/>
          <a:ln/>
        </p:spPr>
        <p:txBody>
          <a:bodyPr wrap="square" lIns="0" tIns="0" rIns="0" bIns="0" rtlCol="0" anchor="t"/>
          <a:lstStyle/>
          <a:p>
            <a:pPr indent="0" marL="0">
              <a:lnSpc>
                <a:spcPct val="118000"/>
              </a:lnSpc>
              <a:buNone/>
            </a:pPr>
            <a:r>
              <a:rPr lang="en-US" sz="1300" dirty="0">
                <a:solidFill>
                  <a:srgbClr val="4B5058"/>
                </a:solidFill>
                <a:latin typeface="Calibri" pitchFamily="34" charset="0"/>
                <a:ea typeface="Calibri" pitchFamily="34" charset="-122"/>
                <a:cs typeface="Calibri" pitchFamily="34" charset="-120"/>
              </a:rPr>
              <a:t>Turns labels and failures into something a model can learn.</a:t>
            </a:r>
            <a:endParaRPr lang="en-US" sz="1300" dirty="0"/>
          </a:p>
        </p:txBody>
      </p:sp>
      <p:sp>
        <p:nvSpPr>
          <p:cNvPr id="16" name="Shape 14"/>
          <p:cNvSpPr/>
          <p:nvPr/>
        </p:nvSpPr>
        <p:spPr>
          <a:xfrm>
            <a:off x="9029471" y="2359152"/>
            <a:ext cx="2522144" cy="2286000"/>
          </a:xfrm>
          <a:prstGeom prst="roundRect">
            <a:avLst>
              <a:gd name="adj" fmla="val 5600"/>
            </a:avLst>
          </a:prstGeom>
          <a:solidFill>
            <a:srgbClr val="FFFFFF"/>
          </a:solidFill>
          <a:ln w="19050">
            <a:solidFill>
              <a:srgbClr val="E4E1D8"/>
            </a:solidFill>
            <a:prstDash val="solid"/>
          </a:ln>
        </p:spPr>
      </p:sp>
      <p:sp>
        <p:nvSpPr>
          <p:cNvPr id="17" name="Text 15"/>
          <p:cNvSpPr txBox="1"/>
          <p:nvPr/>
        </p:nvSpPr>
        <p:spPr>
          <a:xfrm>
            <a:off x="9303791" y="2633472"/>
            <a:ext cx="1973504" cy="457200"/>
          </a:xfrm>
          <a:prstGeom prst="rect">
            <a:avLst/>
          </a:prstGeom>
          <a:noFill/>
          <a:ln/>
        </p:spPr>
        <p:txBody>
          <a:bodyPr wrap="square" lIns="0" tIns="0" rIns="0" bIns="0" rtlCol="0" anchor="t"/>
          <a:lstStyle/>
          <a:p>
            <a:pPr indent="0" marL="0">
              <a:lnSpc>
                <a:spcPct val="120000"/>
              </a:lnSpc>
              <a:buNone/>
            </a:pPr>
            <a:r>
              <a:rPr lang="en-US" sz="1000" spc="120" kern="0" dirty="0">
                <a:solidFill>
                  <a:srgbClr val="C1485A"/>
                </a:solidFill>
                <a:latin typeface="Courier New" pitchFamily="34" charset="0"/>
                <a:ea typeface="Courier New" pitchFamily="34" charset="-122"/>
                <a:cs typeface="Courier New" pitchFamily="34" charset="-120"/>
              </a:rPr>
              <a:t>COMMERCIAL</a:t>
            </a:r>
            <a:endParaRPr lang="en-US" sz="1000" dirty="0"/>
          </a:p>
        </p:txBody>
      </p:sp>
      <p:sp>
        <p:nvSpPr>
          <p:cNvPr id="18" name="Text 16"/>
          <p:cNvSpPr txBox="1"/>
          <p:nvPr/>
        </p:nvSpPr>
        <p:spPr>
          <a:xfrm>
            <a:off x="9303791" y="3218688"/>
            <a:ext cx="1973504" cy="402336"/>
          </a:xfrm>
          <a:prstGeom prst="rect">
            <a:avLst/>
          </a:prstGeom>
          <a:noFill/>
          <a:ln/>
        </p:spPr>
        <p:txBody>
          <a:bodyPr wrap="square" lIns="0" tIns="0" rIns="0" bIns="0" rtlCol="0" anchor="ctr"/>
          <a:lstStyle/>
          <a:p>
            <a:pPr indent="0" marL="0">
              <a:buNone/>
            </a:pPr>
            <a:r>
              <a:rPr lang="en-US" sz="1800" dirty="0">
                <a:solidFill>
                  <a:srgbClr val="181A1E"/>
                </a:solidFill>
                <a:latin typeface="Cambria" pitchFamily="34" charset="0"/>
                <a:ea typeface="Cambria" pitchFamily="34" charset="-122"/>
                <a:cs typeface="Cambria" pitchFamily="34" charset="-120"/>
              </a:rPr>
              <a:t>[name]</a:t>
            </a:r>
            <a:endParaRPr lang="en-US" sz="1800" dirty="0"/>
          </a:p>
        </p:txBody>
      </p:sp>
      <p:sp>
        <p:nvSpPr>
          <p:cNvPr id="19" name="Text 17"/>
          <p:cNvSpPr txBox="1"/>
          <p:nvPr/>
        </p:nvSpPr>
        <p:spPr>
          <a:xfrm>
            <a:off x="9303791" y="3694176"/>
            <a:ext cx="1973504" cy="822960"/>
          </a:xfrm>
          <a:prstGeom prst="rect">
            <a:avLst/>
          </a:prstGeom>
          <a:noFill/>
          <a:ln/>
        </p:spPr>
        <p:txBody>
          <a:bodyPr wrap="square" lIns="0" tIns="0" rIns="0" bIns="0" rtlCol="0" anchor="t"/>
          <a:lstStyle/>
          <a:p>
            <a:pPr indent="0" marL="0">
              <a:lnSpc>
                <a:spcPct val="118000"/>
              </a:lnSpc>
              <a:buNone/>
            </a:pPr>
            <a:r>
              <a:rPr lang="en-US" sz="1300" dirty="0">
                <a:solidFill>
                  <a:srgbClr val="4B5058"/>
                </a:solidFill>
                <a:latin typeface="Calibri" pitchFamily="34" charset="0"/>
                <a:ea typeface="Calibri" pitchFamily="34" charset="-122"/>
                <a:cs typeface="Calibri" pitchFamily="34" charset="-120"/>
              </a:rPr>
              <a:t>Finds the first team willing to test a prediction against a real result.</a:t>
            </a:r>
            <a:endParaRPr lang="en-US" sz="1300" dirty="0"/>
          </a:p>
        </p:txBody>
      </p:sp>
      <p:sp>
        <p:nvSpPr>
          <p:cNvPr id="20" name="Shape 18"/>
          <p:cNvSpPr/>
          <p:nvPr/>
        </p:nvSpPr>
        <p:spPr>
          <a:xfrm>
            <a:off x="640080" y="4974336"/>
            <a:ext cx="10911535" cy="822960"/>
          </a:xfrm>
          <a:prstGeom prst="roundRect">
            <a:avLst>
              <a:gd name="adj" fmla="val 15556"/>
            </a:avLst>
          </a:prstGeom>
          <a:solidFill>
            <a:srgbClr val="FBEAEC"/>
          </a:solidFill>
          <a:ln w="19050">
            <a:solidFill>
              <a:srgbClr val="C1485A"/>
            </a:solidFill>
            <a:prstDash val="solid"/>
          </a:ln>
        </p:spPr>
      </p:sp>
      <p:sp>
        <p:nvSpPr>
          <p:cNvPr id="21" name="Text 19"/>
          <p:cNvSpPr txBox="1"/>
          <p:nvPr/>
        </p:nvSpPr>
        <p:spPr>
          <a:xfrm>
            <a:off x="969264" y="4974336"/>
            <a:ext cx="10253167" cy="822960"/>
          </a:xfrm>
          <a:prstGeom prst="rect">
            <a:avLst/>
          </a:prstGeom>
          <a:noFill/>
          <a:ln/>
        </p:spPr>
        <p:txBody>
          <a:bodyPr wrap="square" lIns="0" tIns="0" rIns="0" bIns="0" rtlCol="0" anchor="ctr"/>
          <a:lstStyle/>
          <a:p>
            <a:pPr indent="0" marL="0">
              <a:buNone/>
            </a:pPr>
            <a:r>
              <a:rPr lang="en-US" sz="1500" dirty="0">
                <a:solidFill>
                  <a:srgbClr val="7C2A38"/>
                </a:solidFill>
                <a:latin typeface="Cambria" pitchFamily="34" charset="0"/>
                <a:ea typeface="Cambria" pitchFamily="34" charset="-122"/>
                <a:cs typeface="Cambria" pitchFamily="34" charset="-120"/>
              </a:rPr>
              <a:t>We are continuing after this week. The next milestone is booked: one design partner, real molecules, predictions logged before the results come back.</a:t>
            </a:r>
            <a:endParaRPr lang="en-US" sz="1500" dirty="0"/>
          </a:p>
        </p:txBody>
      </p:sp>
      <p:sp>
        <p:nvSpPr>
          <p:cNvPr id="22" name="Text 20"/>
          <p:cNvSpPr txBox="1"/>
          <p:nvPr/>
        </p:nvSpPr>
        <p:spPr>
          <a:xfrm>
            <a:off x="10637215" y="6437376"/>
            <a:ext cx="914400" cy="219456"/>
          </a:xfrm>
          <a:prstGeom prst="rect">
            <a:avLst/>
          </a:prstGeom>
          <a:noFill/>
          <a:ln/>
        </p:spPr>
        <p:txBody>
          <a:bodyPr wrap="square" lIns="0" tIns="0" rIns="0" bIns="0" rtlCol="0" anchor="ctr"/>
          <a:lstStyle/>
          <a:p>
            <a:pPr algn="r" indent="0" marL="0">
              <a:buNone/>
            </a:pPr>
            <a:r>
              <a:rPr lang="en-US" sz="900" dirty="0">
                <a:solidFill>
                  <a:srgbClr val="82868E"/>
                </a:solidFill>
                <a:latin typeface="Courier New" pitchFamily="34" charset="0"/>
                <a:ea typeface="Courier New" pitchFamily="34" charset="-122"/>
                <a:cs typeface="Courier New"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BF8"/>
        </a:solidFill>
      </p:bgPr>
    </p:bg>
    <p:spTree>
      <p:nvGrpSpPr>
        <p:cNvPr id="1" name=""/>
        <p:cNvGrpSpPr/>
        <p:nvPr/>
      </p:nvGrpSpPr>
      <p:grpSpPr>
        <a:xfrm>
          <a:off x="0" y="0"/>
          <a:ext cx="0" cy="0"/>
          <a:chOff x="0" y="0"/>
          <a:chExt cx="0" cy="0"/>
        </a:xfrm>
      </p:grpSpPr>
      <p:sp>
        <p:nvSpPr>
          <p:cNvPr id="2" name="Text 0"/>
          <p:cNvSpPr txBox="1"/>
          <p:nvPr/>
        </p:nvSpPr>
        <p:spPr>
          <a:xfrm>
            <a:off x="640080" y="640080"/>
            <a:ext cx="10911535" cy="237744"/>
          </a:xfrm>
          <a:prstGeom prst="rect">
            <a:avLst/>
          </a:prstGeom>
          <a:noFill/>
          <a:ln/>
        </p:spPr>
        <p:txBody>
          <a:bodyPr wrap="square" lIns="0" tIns="0" rIns="0" bIns="0" rtlCol="0" anchor="ctr"/>
          <a:lstStyle/>
          <a:p>
            <a:pPr indent="0" marL="0">
              <a:buNone/>
            </a:pPr>
            <a:r>
              <a:rPr lang="en-US" sz="1000" spc="180" kern="0" dirty="0">
                <a:solidFill>
                  <a:srgbClr val="C1485A"/>
                </a:solidFill>
                <a:latin typeface="Courier New" pitchFamily="34" charset="0"/>
                <a:ea typeface="Courier New" pitchFamily="34" charset="-122"/>
                <a:cs typeface="Courier New" pitchFamily="34" charset="-120"/>
              </a:rPr>
              <a:t>TRACTION</a:t>
            </a:r>
            <a:endParaRPr lang="en-US" sz="1000" dirty="0"/>
          </a:p>
        </p:txBody>
      </p:sp>
      <p:sp>
        <p:nvSpPr>
          <p:cNvPr id="3" name="Text 1"/>
          <p:cNvSpPr txBox="1"/>
          <p:nvPr/>
        </p:nvSpPr>
        <p:spPr>
          <a:xfrm>
            <a:off x="640080" y="987552"/>
            <a:ext cx="10911535" cy="658368"/>
          </a:xfrm>
          <a:prstGeom prst="rect">
            <a:avLst/>
          </a:prstGeom>
          <a:noFill/>
          <a:ln/>
        </p:spPr>
        <p:txBody>
          <a:bodyPr wrap="square" lIns="0" tIns="0" rIns="0" bIns="0" rtlCol="0" anchor="t"/>
          <a:lstStyle/>
          <a:p>
            <a:pPr indent="0" marL="0">
              <a:lnSpc>
                <a:spcPct val="98000"/>
              </a:lnSpc>
              <a:buNone/>
            </a:pPr>
            <a:r>
              <a:rPr lang="en-US" sz="3600" dirty="0">
                <a:solidFill>
                  <a:srgbClr val="181A1E"/>
                </a:solidFill>
                <a:latin typeface="Cambria" pitchFamily="34" charset="0"/>
                <a:ea typeface="Cambria" pitchFamily="34" charset="-122"/>
                <a:cs typeface="Cambria" pitchFamily="34" charset="-120"/>
              </a:rPr>
              <a:t>What exists right now, and what does not.</a:t>
            </a:r>
            <a:endParaRPr lang="en-US" sz="3600" dirty="0"/>
          </a:p>
        </p:txBody>
      </p:sp>
      <p:sp>
        <p:nvSpPr>
          <p:cNvPr id="4" name="Shape 2"/>
          <p:cNvSpPr/>
          <p:nvPr/>
        </p:nvSpPr>
        <p:spPr>
          <a:xfrm>
            <a:off x="640080" y="1920240"/>
            <a:ext cx="5181448" cy="2926080"/>
          </a:xfrm>
          <a:prstGeom prst="roundRect">
            <a:avLst>
              <a:gd name="adj" fmla="val 4375"/>
            </a:avLst>
          </a:prstGeom>
          <a:solidFill>
            <a:srgbClr val="E5F5EF"/>
          </a:solidFill>
          <a:ln w="19050">
            <a:solidFill>
              <a:srgbClr val="2E9179"/>
            </a:solidFill>
            <a:prstDash val="solid"/>
          </a:ln>
        </p:spPr>
      </p:sp>
      <p:sp>
        <p:nvSpPr>
          <p:cNvPr id="5" name="Text 3"/>
          <p:cNvSpPr txBox="1"/>
          <p:nvPr/>
        </p:nvSpPr>
        <p:spPr>
          <a:xfrm>
            <a:off x="1005840" y="2194560"/>
            <a:ext cx="4449928" cy="402336"/>
          </a:xfrm>
          <a:prstGeom prst="rect">
            <a:avLst/>
          </a:prstGeom>
          <a:noFill/>
          <a:ln/>
        </p:spPr>
        <p:txBody>
          <a:bodyPr wrap="square" lIns="0" tIns="0" rIns="0" bIns="0" rtlCol="0" anchor="ctr"/>
          <a:lstStyle/>
          <a:p>
            <a:pPr indent="0" marL="0">
              <a:buNone/>
            </a:pPr>
            <a:r>
              <a:rPr lang="en-US" sz="2000" dirty="0">
                <a:solidFill>
                  <a:srgbClr val="2E9179"/>
                </a:solidFill>
                <a:latin typeface="Cambria" pitchFamily="34" charset="0"/>
                <a:ea typeface="Cambria" pitchFamily="34" charset="-122"/>
                <a:cs typeface="Cambria" pitchFamily="34" charset="-120"/>
              </a:rPr>
              <a:t>Built and running</a:t>
            </a:r>
            <a:endParaRPr lang="en-US" sz="2000" dirty="0"/>
          </a:p>
        </p:txBody>
      </p:sp>
      <p:sp>
        <p:nvSpPr>
          <p:cNvPr id="6" name="Text 4"/>
          <p:cNvSpPr txBox="1"/>
          <p:nvPr/>
        </p:nvSpPr>
        <p:spPr>
          <a:xfrm>
            <a:off x="1005840" y="2779776"/>
            <a:ext cx="4449928" cy="402336"/>
          </a:xfrm>
          <a:prstGeom prst="rect">
            <a:avLst/>
          </a:prstGeom>
          <a:noFill/>
          <a:ln/>
        </p:spPr>
        <p:txBody>
          <a:bodyPr wrap="square" lIns="0" tIns="0" rIns="0" bIns="0" rtlCol="0" anchor="ctr"/>
          <a:lstStyle/>
          <a:p>
            <a:pPr indent="0" marL="0">
              <a:buNone/>
            </a:pPr>
            <a:r>
              <a:rPr lang="en-US" sz="1500" dirty="0">
                <a:solidFill>
                  <a:srgbClr val="181A1E"/>
                </a:solidFill>
                <a:latin typeface="Calibri" pitchFamily="34" charset="0"/>
                <a:ea typeface="Calibri" pitchFamily="34" charset="-122"/>
                <a:cs typeface="Calibri" pitchFamily="34" charset="-120"/>
              </a:rPr>
              <a:t>·  A working web tool, not a mockup</a:t>
            </a:r>
            <a:endParaRPr lang="en-US" sz="1500" dirty="0"/>
          </a:p>
        </p:txBody>
      </p:sp>
      <p:sp>
        <p:nvSpPr>
          <p:cNvPr id="7" name="Text 5"/>
          <p:cNvSpPr txBox="1"/>
          <p:nvPr/>
        </p:nvSpPr>
        <p:spPr>
          <a:xfrm>
            <a:off x="1005840" y="3236976"/>
            <a:ext cx="4449928" cy="402336"/>
          </a:xfrm>
          <a:prstGeom prst="rect">
            <a:avLst/>
          </a:prstGeom>
          <a:noFill/>
          <a:ln/>
        </p:spPr>
        <p:txBody>
          <a:bodyPr wrap="square" lIns="0" tIns="0" rIns="0" bIns="0" rtlCol="0" anchor="ctr"/>
          <a:lstStyle/>
          <a:p>
            <a:pPr indent="0" marL="0">
              <a:buNone/>
            </a:pPr>
            <a:r>
              <a:rPr lang="en-US" sz="1500" dirty="0">
                <a:solidFill>
                  <a:srgbClr val="181A1E"/>
                </a:solidFill>
                <a:latin typeface="Calibri" pitchFamily="34" charset="0"/>
                <a:ea typeface="Calibri" pitchFamily="34" charset="-122"/>
                <a:cs typeface="Calibri" pitchFamily="34" charset="-120"/>
              </a:rPr>
              <a:t>·  Eight molecules, three species</a:t>
            </a:r>
            <a:endParaRPr lang="en-US" sz="1500" dirty="0"/>
          </a:p>
        </p:txBody>
      </p:sp>
      <p:sp>
        <p:nvSpPr>
          <p:cNvPr id="8" name="Text 6"/>
          <p:cNvSpPr txBox="1"/>
          <p:nvPr/>
        </p:nvSpPr>
        <p:spPr>
          <a:xfrm>
            <a:off x="1005840" y="3694176"/>
            <a:ext cx="4449928" cy="402336"/>
          </a:xfrm>
          <a:prstGeom prst="rect">
            <a:avLst/>
          </a:prstGeom>
          <a:noFill/>
          <a:ln/>
        </p:spPr>
        <p:txBody>
          <a:bodyPr wrap="square" lIns="0" tIns="0" rIns="0" bIns="0" rtlCol="0" anchor="ctr"/>
          <a:lstStyle/>
          <a:p>
            <a:pPr indent="0" marL="0">
              <a:buNone/>
            </a:pPr>
            <a:r>
              <a:rPr lang="en-US" sz="1500" dirty="0">
                <a:solidFill>
                  <a:srgbClr val="181A1E"/>
                </a:solidFill>
                <a:latin typeface="Calibri" pitchFamily="34" charset="0"/>
                <a:ea typeface="Calibri" pitchFamily="34" charset="-122"/>
                <a:cs typeface="Calibri" pitchFamily="34" charset="-120"/>
              </a:rPr>
              <a:t>·  Organ maps with mechanism and severity</a:t>
            </a:r>
            <a:endParaRPr lang="en-US" sz="1500" dirty="0"/>
          </a:p>
        </p:txBody>
      </p:sp>
      <p:sp>
        <p:nvSpPr>
          <p:cNvPr id="9" name="Text 7"/>
          <p:cNvSpPr txBox="1"/>
          <p:nvPr/>
        </p:nvSpPr>
        <p:spPr>
          <a:xfrm>
            <a:off x="1005840" y="4151376"/>
            <a:ext cx="4449928" cy="402336"/>
          </a:xfrm>
          <a:prstGeom prst="rect">
            <a:avLst/>
          </a:prstGeom>
          <a:noFill/>
          <a:ln/>
        </p:spPr>
        <p:txBody>
          <a:bodyPr wrap="square" lIns="0" tIns="0" rIns="0" bIns="0" rtlCol="0" anchor="ctr"/>
          <a:lstStyle/>
          <a:p>
            <a:pPr indent="0" marL="0">
              <a:buNone/>
            </a:pPr>
            <a:r>
              <a:rPr lang="en-US" sz="1500" dirty="0">
                <a:solidFill>
                  <a:srgbClr val="181A1E"/>
                </a:solidFill>
                <a:latin typeface="Calibri" pitchFamily="34" charset="0"/>
                <a:ea typeface="Calibri" pitchFamily="34" charset="-122"/>
                <a:cs typeface="Calibri" pitchFamily="34" charset="-120"/>
              </a:rPr>
              <a:t>·  A price on it: €100 per answer</a:t>
            </a:r>
            <a:endParaRPr lang="en-US" sz="1500" dirty="0"/>
          </a:p>
        </p:txBody>
      </p:sp>
      <p:sp>
        <p:nvSpPr>
          <p:cNvPr id="10" name="Shape 8"/>
          <p:cNvSpPr/>
          <p:nvPr/>
        </p:nvSpPr>
        <p:spPr>
          <a:xfrm>
            <a:off x="6370168" y="1920240"/>
            <a:ext cx="5181448" cy="2926080"/>
          </a:xfrm>
          <a:prstGeom prst="roundRect">
            <a:avLst>
              <a:gd name="adj" fmla="val 4375"/>
            </a:avLst>
          </a:prstGeom>
          <a:solidFill>
            <a:srgbClr val="FFFFFF"/>
          </a:solidFill>
          <a:ln w="19050">
            <a:solidFill>
              <a:srgbClr val="E4E1D8"/>
            </a:solidFill>
            <a:prstDash val="solid"/>
          </a:ln>
        </p:spPr>
      </p:sp>
      <p:sp>
        <p:nvSpPr>
          <p:cNvPr id="11" name="Text 9"/>
          <p:cNvSpPr txBox="1"/>
          <p:nvPr/>
        </p:nvSpPr>
        <p:spPr>
          <a:xfrm>
            <a:off x="6735928" y="2194560"/>
            <a:ext cx="4449928" cy="402336"/>
          </a:xfrm>
          <a:prstGeom prst="rect">
            <a:avLst/>
          </a:prstGeom>
          <a:noFill/>
          <a:ln/>
        </p:spPr>
        <p:txBody>
          <a:bodyPr wrap="square" lIns="0" tIns="0" rIns="0" bIns="0" rtlCol="0" anchor="ctr"/>
          <a:lstStyle/>
          <a:p>
            <a:pPr indent="0" marL="0">
              <a:buNone/>
            </a:pPr>
            <a:r>
              <a:rPr lang="en-US" sz="2000" dirty="0">
                <a:solidFill>
                  <a:srgbClr val="82868E"/>
                </a:solidFill>
                <a:latin typeface="Cambria" pitchFamily="34" charset="0"/>
                <a:ea typeface="Cambria" pitchFamily="34" charset="-122"/>
                <a:cs typeface="Cambria" pitchFamily="34" charset="-120"/>
              </a:rPr>
              <a:t>Not yet</a:t>
            </a:r>
            <a:endParaRPr lang="en-US" sz="2000" dirty="0"/>
          </a:p>
        </p:txBody>
      </p:sp>
      <p:sp>
        <p:nvSpPr>
          <p:cNvPr id="12" name="Text 10"/>
          <p:cNvSpPr txBox="1"/>
          <p:nvPr/>
        </p:nvSpPr>
        <p:spPr>
          <a:xfrm>
            <a:off x="6735928" y="2779776"/>
            <a:ext cx="4449928" cy="402336"/>
          </a:xfrm>
          <a:prstGeom prst="rect">
            <a:avLst/>
          </a:prstGeom>
          <a:noFill/>
          <a:ln/>
        </p:spPr>
        <p:txBody>
          <a:bodyPr wrap="square" lIns="0" tIns="0" rIns="0" bIns="0" rtlCol="0" anchor="ctr"/>
          <a:lstStyle/>
          <a:p>
            <a:pPr indent="0" marL="0">
              <a:buNone/>
            </a:pPr>
            <a:r>
              <a:rPr lang="en-US" sz="1500" dirty="0">
                <a:solidFill>
                  <a:srgbClr val="4B5058"/>
                </a:solidFill>
                <a:latin typeface="Calibri" pitchFamily="34" charset="0"/>
                <a:ea typeface="Calibri" pitchFamily="34" charset="-122"/>
                <a:cs typeface="Calibri" pitchFamily="34" charset="-120"/>
              </a:rPr>
              <a:t>·  No paying customer yet</a:t>
            </a:r>
            <a:endParaRPr lang="en-US" sz="1500" dirty="0"/>
          </a:p>
        </p:txBody>
      </p:sp>
      <p:sp>
        <p:nvSpPr>
          <p:cNvPr id="13" name="Text 11"/>
          <p:cNvSpPr txBox="1"/>
          <p:nvPr/>
        </p:nvSpPr>
        <p:spPr>
          <a:xfrm>
            <a:off x="6735928" y="3236976"/>
            <a:ext cx="4449928" cy="402336"/>
          </a:xfrm>
          <a:prstGeom prst="rect">
            <a:avLst/>
          </a:prstGeom>
          <a:noFill/>
          <a:ln/>
        </p:spPr>
        <p:txBody>
          <a:bodyPr wrap="square" lIns="0" tIns="0" rIns="0" bIns="0" rtlCol="0" anchor="ctr"/>
          <a:lstStyle/>
          <a:p>
            <a:pPr indent="0" marL="0">
              <a:buNone/>
            </a:pPr>
            <a:r>
              <a:rPr lang="en-US" sz="1500" dirty="0">
                <a:solidFill>
                  <a:srgbClr val="4B5058"/>
                </a:solidFill>
                <a:latin typeface="Calibri" pitchFamily="34" charset="0"/>
                <a:ea typeface="Calibri" pitchFamily="34" charset="-122"/>
                <a:cs typeface="Calibri" pitchFamily="34" charset="-120"/>
              </a:rPr>
              <a:t>·  The maps are read from drug labels, not predicted</a:t>
            </a:r>
            <a:endParaRPr lang="en-US" sz="1500" dirty="0"/>
          </a:p>
        </p:txBody>
      </p:sp>
      <p:sp>
        <p:nvSpPr>
          <p:cNvPr id="14" name="Text 12"/>
          <p:cNvSpPr txBox="1"/>
          <p:nvPr/>
        </p:nvSpPr>
        <p:spPr>
          <a:xfrm>
            <a:off x="6735928" y="3694176"/>
            <a:ext cx="4449928" cy="402336"/>
          </a:xfrm>
          <a:prstGeom prst="rect">
            <a:avLst/>
          </a:prstGeom>
          <a:noFill/>
          <a:ln/>
        </p:spPr>
        <p:txBody>
          <a:bodyPr wrap="square" lIns="0" tIns="0" rIns="0" bIns="0" rtlCol="0" anchor="ctr"/>
          <a:lstStyle/>
          <a:p>
            <a:pPr indent="0" marL="0">
              <a:buNone/>
            </a:pPr>
            <a:r>
              <a:rPr lang="en-US" sz="1500" dirty="0">
                <a:solidFill>
                  <a:srgbClr val="4B5058"/>
                </a:solidFill>
                <a:latin typeface="Calibri" pitchFamily="34" charset="0"/>
                <a:ea typeface="Calibri" pitchFamily="34" charset="-122"/>
                <a:cs typeface="Calibri" pitchFamily="34" charset="-120"/>
              </a:rPr>
              <a:t>·  No model has been tested against a held-out drug</a:t>
            </a:r>
            <a:endParaRPr lang="en-US" sz="1500" dirty="0"/>
          </a:p>
        </p:txBody>
      </p:sp>
      <p:sp>
        <p:nvSpPr>
          <p:cNvPr id="15" name="Text 13"/>
          <p:cNvSpPr txBox="1"/>
          <p:nvPr/>
        </p:nvSpPr>
        <p:spPr>
          <a:xfrm>
            <a:off x="6735928" y="4151376"/>
            <a:ext cx="4449928" cy="402336"/>
          </a:xfrm>
          <a:prstGeom prst="rect">
            <a:avLst/>
          </a:prstGeom>
          <a:noFill/>
          <a:ln/>
        </p:spPr>
        <p:txBody>
          <a:bodyPr wrap="square" lIns="0" tIns="0" rIns="0" bIns="0" rtlCol="0" anchor="ctr"/>
          <a:lstStyle/>
          <a:p>
            <a:pPr indent="0" marL="0">
              <a:buNone/>
            </a:pPr>
            <a:r>
              <a:rPr lang="en-US" sz="1500" dirty="0">
                <a:solidFill>
                  <a:srgbClr val="4B5058"/>
                </a:solidFill>
                <a:latin typeface="Calibri" pitchFamily="34" charset="0"/>
                <a:ea typeface="Calibri" pitchFamily="34" charset="-122"/>
                <a:cs typeface="Calibri" pitchFamily="34" charset="-120"/>
              </a:rPr>
              <a:t>·  That test is the next thing we do</a:t>
            </a:r>
            <a:endParaRPr lang="en-US" sz="1500" dirty="0"/>
          </a:p>
        </p:txBody>
      </p:sp>
      <p:sp>
        <p:nvSpPr>
          <p:cNvPr id="16" name="Text 14"/>
          <p:cNvSpPr txBox="1"/>
          <p:nvPr/>
        </p:nvSpPr>
        <p:spPr>
          <a:xfrm>
            <a:off x="640080" y="5175504"/>
            <a:ext cx="10911535" cy="365760"/>
          </a:xfrm>
          <a:prstGeom prst="rect">
            <a:avLst/>
          </a:prstGeom>
          <a:noFill/>
          <a:ln/>
        </p:spPr>
        <p:txBody>
          <a:bodyPr wrap="square" lIns="0" tIns="0" rIns="0" bIns="0" rtlCol="0" anchor="ctr"/>
          <a:lstStyle/>
          <a:p>
            <a:pPr indent="0" marL="0">
              <a:buNone/>
            </a:pPr>
            <a:r>
              <a:rPr lang="en-US" sz="1600" i="1" dirty="0">
                <a:solidFill>
                  <a:srgbClr val="181A1E"/>
                </a:solidFill>
                <a:latin typeface="Cambria" pitchFamily="34" charset="0"/>
                <a:ea typeface="Cambria" pitchFamily="34" charset="-122"/>
                <a:cs typeface="Cambria" pitchFamily="34" charset="-120"/>
              </a:rPr>
              <a:t>We would rather show you a working tool and an honest gap than a slide of promises.</a:t>
            </a:r>
            <a:endParaRPr lang="en-US" sz="1600" dirty="0"/>
          </a:p>
        </p:txBody>
      </p:sp>
      <p:sp>
        <p:nvSpPr>
          <p:cNvPr id="17" name="Text 15"/>
          <p:cNvSpPr txBox="1"/>
          <p:nvPr/>
        </p:nvSpPr>
        <p:spPr>
          <a:xfrm>
            <a:off x="10637215" y="6437376"/>
            <a:ext cx="914400" cy="219456"/>
          </a:xfrm>
          <a:prstGeom prst="rect">
            <a:avLst/>
          </a:prstGeom>
          <a:noFill/>
          <a:ln/>
        </p:spPr>
        <p:txBody>
          <a:bodyPr wrap="square" lIns="0" tIns="0" rIns="0" bIns="0" rtlCol="0" anchor="ctr"/>
          <a:lstStyle/>
          <a:p>
            <a:pPr algn="r" indent="0" marL="0">
              <a:buNone/>
            </a:pPr>
            <a:r>
              <a:rPr lang="en-US" sz="900" dirty="0">
                <a:solidFill>
                  <a:srgbClr val="82868E"/>
                </a:solidFill>
                <a:latin typeface="Courier New" pitchFamily="34" charset="0"/>
                <a:ea typeface="Courier New" pitchFamily="34" charset="-122"/>
                <a:cs typeface="Courier New"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81A1E"/>
        </a:solidFill>
      </p:bgPr>
    </p:bg>
    <p:spTree>
      <p:nvGrpSpPr>
        <p:cNvPr id="1" name=""/>
        <p:cNvGrpSpPr/>
        <p:nvPr/>
      </p:nvGrpSpPr>
      <p:grpSpPr>
        <a:xfrm>
          <a:off x="0" y="0"/>
          <a:ext cx="0" cy="0"/>
          <a:chOff x="0" y="0"/>
          <a:chExt cx="0" cy="0"/>
        </a:xfrm>
      </p:grpSpPr>
      <p:sp>
        <p:nvSpPr>
          <p:cNvPr id="2" name="Text 0"/>
          <p:cNvSpPr txBox="1"/>
          <p:nvPr/>
        </p:nvSpPr>
        <p:spPr>
          <a:xfrm>
            <a:off x="640080" y="1207008"/>
            <a:ext cx="10881360" cy="658368"/>
          </a:xfrm>
          <a:prstGeom prst="rect">
            <a:avLst/>
          </a:prstGeom>
          <a:noFill/>
          <a:ln/>
        </p:spPr>
        <p:txBody>
          <a:bodyPr wrap="square" lIns="0" tIns="0" rIns="0" bIns="0" rtlCol="0" anchor="ctr"/>
          <a:lstStyle/>
          <a:p>
            <a:pPr indent="0" marL="0">
              <a:buNone/>
            </a:pPr>
            <a:r>
              <a:rPr lang="en-US" sz="4000" dirty="0">
                <a:solidFill>
                  <a:srgbClr val="FFFFFF"/>
                </a:solidFill>
                <a:latin typeface="Cambria" pitchFamily="34" charset="0"/>
                <a:ea typeface="Cambria" pitchFamily="34" charset="-122"/>
                <a:cs typeface="Cambria" pitchFamily="34" charset="-120"/>
              </a:rPr>
              <a:t>Every drug that failed</a:t>
            </a:r>
            <a:endParaRPr lang="en-US" sz="4000" dirty="0"/>
          </a:p>
        </p:txBody>
      </p:sp>
      <p:sp>
        <p:nvSpPr>
          <p:cNvPr id="3" name="Text 1"/>
          <p:cNvSpPr txBox="1"/>
          <p:nvPr/>
        </p:nvSpPr>
        <p:spPr>
          <a:xfrm>
            <a:off x="640080" y="1938528"/>
            <a:ext cx="10881360" cy="731520"/>
          </a:xfrm>
          <a:prstGeom prst="rect">
            <a:avLst/>
          </a:prstGeom>
          <a:noFill/>
          <a:ln/>
        </p:spPr>
        <p:txBody>
          <a:bodyPr wrap="square" lIns="0" tIns="0" rIns="0" bIns="0" rtlCol="0" anchor="ctr"/>
          <a:lstStyle/>
          <a:p>
            <a:pPr indent="0" marL="0">
              <a:buNone/>
            </a:pPr>
            <a:r>
              <a:rPr lang="en-US" sz="4000" dirty="0">
                <a:solidFill>
                  <a:srgbClr val="E08897"/>
                </a:solidFill>
                <a:latin typeface="Cambria" pitchFamily="34" charset="0"/>
                <a:ea typeface="Cambria" pitchFamily="34" charset="-122"/>
                <a:cs typeface="Cambria" pitchFamily="34" charset="-120"/>
              </a:rPr>
              <a:t>already told us which organ it would break.</a:t>
            </a:r>
            <a:endParaRPr lang="en-US" sz="4000" dirty="0"/>
          </a:p>
        </p:txBody>
      </p:sp>
      <p:sp>
        <p:nvSpPr>
          <p:cNvPr id="4" name="Text 2"/>
          <p:cNvSpPr txBox="1"/>
          <p:nvPr/>
        </p:nvSpPr>
        <p:spPr>
          <a:xfrm>
            <a:off x="640080" y="2880360"/>
            <a:ext cx="10881360" cy="457200"/>
          </a:xfrm>
          <a:prstGeom prst="rect">
            <a:avLst/>
          </a:prstGeom>
          <a:noFill/>
          <a:ln/>
        </p:spPr>
        <p:txBody>
          <a:bodyPr wrap="square" lIns="0" tIns="0" rIns="0" bIns="0" rtlCol="0" anchor="ctr"/>
          <a:lstStyle/>
          <a:p>
            <a:pPr indent="0" marL="0">
              <a:buNone/>
            </a:pPr>
            <a:r>
              <a:rPr lang="en-US" sz="2000" i="1" dirty="0">
                <a:solidFill>
                  <a:srgbClr val="BEC1C6"/>
                </a:solidFill>
                <a:latin typeface="Cambria" pitchFamily="34" charset="0"/>
                <a:ea typeface="Cambria" pitchFamily="34" charset="-122"/>
                <a:cs typeface="Cambria" pitchFamily="34" charset="-120"/>
              </a:rPr>
              <a:t>Nobody was listening. We built the thing that listens.</a:t>
            </a:r>
            <a:endParaRPr lang="en-US" sz="2000" dirty="0"/>
          </a:p>
        </p:txBody>
      </p:sp>
      <p:sp>
        <p:nvSpPr>
          <p:cNvPr id="5" name="Shape 3"/>
          <p:cNvSpPr/>
          <p:nvPr/>
        </p:nvSpPr>
        <p:spPr>
          <a:xfrm>
            <a:off x="640080" y="3977640"/>
            <a:ext cx="3429914" cy="1234440"/>
          </a:xfrm>
          <a:prstGeom prst="roundRect">
            <a:avLst>
              <a:gd name="adj" fmla="val 10370"/>
            </a:avLst>
          </a:prstGeom>
          <a:solidFill>
            <a:srgbClr val="1F2126"/>
          </a:solidFill>
          <a:ln w="19050">
            <a:solidFill>
              <a:srgbClr val="2C2F35"/>
            </a:solidFill>
            <a:prstDash val="solid"/>
          </a:ln>
        </p:spPr>
      </p:sp>
      <p:sp>
        <p:nvSpPr>
          <p:cNvPr id="6" name="Text 4"/>
          <p:cNvSpPr txBox="1"/>
          <p:nvPr/>
        </p:nvSpPr>
        <p:spPr>
          <a:xfrm>
            <a:off x="932688" y="4187952"/>
            <a:ext cx="2844698" cy="384048"/>
          </a:xfrm>
          <a:prstGeom prst="rect">
            <a:avLst/>
          </a:prstGeom>
          <a:noFill/>
          <a:ln/>
        </p:spPr>
        <p:txBody>
          <a:bodyPr wrap="square" lIns="0" tIns="0" rIns="0" bIns="0" rtlCol="0" anchor="ctr"/>
          <a:lstStyle/>
          <a:p>
            <a:pPr indent="0" marL="0">
              <a:buNone/>
            </a:pPr>
            <a:r>
              <a:rPr lang="en-US" sz="2000" dirty="0">
                <a:solidFill>
                  <a:srgbClr val="FFFFFF"/>
                </a:solidFill>
                <a:latin typeface="Cambria" pitchFamily="34" charset="0"/>
                <a:ea typeface="Cambria" pitchFamily="34" charset="-122"/>
                <a:cs typeface="Cambria" pitchFamily="34" charset="-120"/>
              </a:rPr>
              <a:t>Design partner</a:t>
            </a:r>
            <a:endParaRPr lang="en-US" sz="2000" dirty="0"/>
          </a:p>
        </p:txBody>
      </p:sp>
      <p:sp>
        <p:nvSpPr>
          <p:cNvPr id="7" name="Text 5"/>
          <p:cNvSpPr txBox="1"/>
          <p:nvPr/>
        </p:nvSpPr>
        <p:spPr>
          <a:xfrm>
            <a:off x="932688" y="4626864"/>
            <a:ext cx="2844698" cy="457200"/>
          </a:xfrm>
          <a:prstGeom prst="rect">
            <a:avLst/>
          </a:prstGeom>
          <a:noFill/>
          <a:ln/>
        </p:spPr>
        <p:txBody>
          <a:bodyPr wrap="square" lIns="0" tIns="0" rIns="0" bIns="0" rtlCol="0" anchor="ctr"/>
          <a:lstStyle/>
          <a:p>
            <a:pPr indent="0" marL="0">
              <a:lnSpc>
                <a:spcPct val="114000"/>
              </a:lnSpc>
              <a:buNone/>
            </a:pPr>
            <a:r>
              <a:rPr lang="en-US" sz="1300" dirty="0">
                <a:solidFill>
                  <a:srgbClr val="BEC1C6"/>
                </a:solidFill>
                <a:latin typeface="Calibri" pitchFamily="34" charset="0"/>
                <a:ea typeface="Calibri" pitchFamily="34" charset="-122"/>
                <a:cs typeface="Calibri" pitchFamily="34" charset="-120"/>
              </a:rPr>
              <a:t>One team with real molecules to test us against</a:t>
            </a:r>
            <a:endParaRPr lang="en-US" sz="1300" dirty="0"/>
          </a:p>
        </p:txBody>
      </p:sp>
      <p:sp>
        <p:nvSpPr>
          <p:cNvPr id="8" name="Shape 6"/>
          <p:cNvSpPr/>
          <p:nvPr/>
        </p:nvSpPr>
        <p:spPr>
          <a:xfrm>
            <a:off x="4380890" y="3977640"/>
            <a:ext cx="3429914" cy="1234440"/>
          </a:xfrm>
          <a:prstGeom prst="roundRect">
            <a:avLst>
              <a:gd name="adj" fmla="val 10370"/>
            </a:avLst>
          </a:prstGeom>
          <a:solidFill>
            <a:srgbClr val="1F2126"/>
          </a:solidFill>
          <a:ln w="19050">
            <a:solidFill>
              <a:srgbClr val="2C2F35"/>
            </a:solidFill>
            <a:prstDash val="solid"/>
          </a:ln>
        </p:spPr>
      </p:sp>
      <p:sp>
        <p:nvSpPr>
          <p:cNvPr id="9" name="Text 7"/>
          <p:cNvSpPr txBox="1"/>
          <p:nvPr/>
        </p:nvSpPr>
        <p:spPr>
          <a:xfrm>
            <a:off x="4673498" y="4187952"/>
            <a:ext cx="2844698" cy="384048"/>
          </a:xfrm>
          <a:prstGeom prst="rect">
            <a:avLst/>
          </a:prstGeom>
          <a:noFill/>
          <a:ln/>
        </p:spPr>
        <p:txBody>
          <a:bodyPr wrap="square" lIns="0" tIns="0" rIns="0" bIns="0" rtlCol="0" anchor="ctr"/>
          <a:lstStyle/>
          <a:p>
            <a:pPr indent="0" marL="0">
              <a:buNone/>
            </a:pPr>
            <a:r>
              <a:rPr lang="en-US" sz="2000" dirty="0">
                <a:solidFill>
                  <a:srgbClr val="FFFFFF"/>
                </a:solidFill>
                <a:latin typeface="Cambria" pitchFamily="34" charset="0"/>
                <a:ea typeface="Cambria" pitchFamily="34" charset="-122"/>
                <a:cs typeface="Cambria" pitchFamily="34" charset="-120"/>
              </a:rPr>
              <a:t>A toxicologist</a:t>
            </a:r>
            <a:endParaRPr lang="en-US" sz="2000" dirty="0"/>
          </a:p>
        </p:txBody>
      </p:sp>
      <p:sp>
        <p:nvSpPr>
          <p:cNvPr id="10" name="Text 8"/>
          <p:cNvSpPr txBox="1"/>
          <p:nvPr/>
        </p:nvSpPr>
        <p:spPr>
          <a:xfrm>
            <a:off x="4673498" y="4626864"/>
            <a:ext cx="2844698" cy="457200"/>
          </a:xfrm>
          <a:prstGeom prst="rect">
            <a:avLst/>
          </a:prstGeom>
          <a:noFill/>
          <a:ln/>
        </p:spPr>
        <p:txBody>
          <a:bodyPr wrap="square" lIns="0" tIns="0" rIns="0" bIns="0" rtlCol="0" anchor="ctr"/>
          <a:lstStyle/>
          <a:p>
            <a:pPr indent="0" marL="0">
              <a:lnSpc>
                <a:spcPct val="114000"/>
              </a:lnSpc>
              <a:buNone/>
            </a:pPr>
            <a:r>
              <a:rPr lang="en-US" sz="1300" dirty="0">
                <a:solidFill>
                  <a:srgbClr val="BEC1C6"/>
                </a:solidFill>
                <a:latin typeface="Calibri" pitchFamily="34" charset="0"/>
                <a:ea typeface="Calibri" pitchFamily="34" charset="-122"/>
                <a:cs typeface="Calibri" pitchFamily="34" charset="-120"/>
              </a:rPr>
              <a:t>To join us and own what the maps say</a:t>
            </a:r>
            <a:endParaRPr lang="en-US" sz="1300" dirty="0"/>
          </a:p>
        </p:txBody>
      </p:sp>
      <p:sp>
        <p:nvSpPr>
          <p:cNvPr id="11" name="Shape 9"/>
          <p:cNvSpPr/>
          <p:nvPr/>
        </p:nvSpPr>
        <p:spPr>
          <a:xfrm>
            <a:off x="8121701" y="3977640"/>
            <a:ext cx="3429914" cy="1234440"/>
          </a:xfrm>
          <a:prstGeom prst="roundRect">
            <a:avLst>
              <a:gd name="adj" fmla="val 10370"/>
            </a:avLst>
          </a:prstGeom>
          <a:solidFill>
            <a:srgbClr val="1F2126"/>
          </a:solidFill>
          <a:ln w="19050">
            <a:solidFill>
              <a:srgbClr val="2C2F35"/>
            </a:solidFill>
            <a:prstDash val="solid"/>
          </a:ln>
        </p:spPr>
      </p:sp>
      <p:sp>
        <p:nvSpPr>
          <p:cNvPr id="12" name="Text 10"/>
          <p:cNvSpPr txBox="1"/>
          <p:nvPr/>
        </p:nvSpPr>
        <p:spPr>
          <a:xfrm>
            <a:off x="8414309" y="4187952"/>
            <a:ext cx="2844698" cy="384048"/>
          </a:xfrm>
          <a:prstGeom prst="rect">
            <a:avLst/>
          </a:prstGeom>
          <a:noFill/>
          <a:ln/>
        </p:spPr>
        <p:txBody>
          <a:bodyPr wrap="square" lIns="0" tIns="0" rIns="0" bIns="0" rtlCol="0" anchor="ctr"/>
          <a:lstStyle/>
          <a:p>
            <a:pPr indent="0" marL="0">
              <a:buNone/>
            </a:pPr>
            <a:r>
              <a:rPr lang="en-US" sz="2000" dirty="0">
                <a:solidFill>
                  <a:srgbClr val="FFFFFF"/>
                </a:solidFill>
                <a:latin typeface="Cambria" pitchFamily="34" charset="0"/>
                <a:ea typeface="Cambria" pitchFamily="34" charset="-122"/>
                <a:cs typeface="Cambria" pitchFamily="34" charset="-120"/>
              </a:rPr>
              <a:t>€1.4M</a:t>
            </a:r>
            <a:endParaRPr lang="en-US" sz="2000" dirty="0"/>
          </a:p>
        </p:txBody>
      </p:sp>
      <p:sp>
        <p:nvSpPr>
          <p:cNvPr id="13" name="Text 11"/>
          <p:cNvSpPr txBox="1"/>
          <p:nvPr/>
        </p:nvSpPr>
        <p:spPr>
          <a:xfrm>
            <a:off x="8414309" y="4626864"/>
            <a:ext cx="2844698" cy="457200"/>
          </a:xfrm>
          <a:prstGeom prst="rect">
            <a:avLst/>
          </a:prstGeom>
          <a:noFill/>
          <a:ln/>
        </p:spPr>
        <p:txBody>
          <a:bodyPr wrap="square" lIns="0" tIns="0" rIns="0" bIns="0" rtlCol="0" anchor="ctr"/>
          <a:lstStyle/>
          <a:p>
            <a:pPr indent="0" marL="0">
              <a:lnSpc>
                <a:spcPct val="114000"/>
              </a:lnSpc>
              <a:buNone/>
            </a:pPr>
            <a:r>
              <a:rPr lang="en-US" sz="1300" dirty="0">
                <a:solidFill>
                  <a:srgbClr val="BEC1C6"/>
                </a:solidFill>
                <a:latin typeface="Calibri" pitchFamily="34" charset="0"/>
                <a:ea typeface="Calibri" pitchFamily="34" charset="-122"/>
                <a:cs typeface="Calibri" pitchFamily="34" charset="-120"/>
              </a:rPr>
              <a:t>Eighteen months to prove the prediction works</a:t>
            </a:r>
            <a:endParaRPr lang="en-US" sz="1300" dirty="0"/>
          </a:p>
        </p:txBody>
      </p:sp>
      <p:sp>
        <p:nvSpPr>
          <p:cNvPr id="14" name="Text 12"/>
          <p:cNvSpPr txBox="1"/>
          <p:nvPr/>
        </p:nvSpPr>
        <p:spPr>
          <a:xfrm>
            <a:off x="640080" y="5623560"/>
            <a:ext cx="7315200" cy="310896"/>
          </a:xfrm>
          <a:prstGeom prst="rect">
            <a:avLst/>
          </a:prstGeom>
          <a:noFill/>
          <a:ln/>
        </p:spPr>
        <p:txBody>
          <a:bodyPr wrap="square" lIns="0" tIns="0" rIns="0" bIns="0" rtlCol="0" anchor="ctr"/>
          <a:lstStyle/>
          <a:p>
            <a:pPr indent="0" marL="0">
              <a:buNone/>
            </a:pPr>
            <a:r>
              <a:rPr lang="en-US" sz="1300" dirty="0">
                <a:solidFill>
                  <a:srgbClr val="888D95"/>
                </a:solidFill>
                <a:latin typeface="Courier New" pitchFamily="34" charset="0"/>
                <a:ea typeface="Courier New" pitchFamily="34" charset="-122"/>
                <a:cs typeface="Courier New" pitchFamily="34" charset="-120"/>
              </a:rPr>
              <a:t>ToxAI Organ Atlas   ·   toxai.demo</a:t>
            </a:r>
            <a:endParaRPr lang="en-US" sz="1300" dirty="0"/>
          </a:p>
        </p:txBody>
      </p:sp>
      <p:sp>
        <p:nvSpPr>
          <p:cNvPr id="15" name="Text 13"/>
          <p:cNvSpPr txBox="1"/>
          <p:nvPr/>
        </p:nvSpPr>
        <p:spPr>
          <a:xfrm>
            <a:off x="10637215" y="6437376"/>
            <a:ext cx="914400" cy="219456"/>
          </a:xfrm>
          <a:prstGeom prst="rect">
            <a:avLst/>
          </a:prstGeom>
          <a:noFill/>
          <a:ln/>
        </p:spPr>
        <p:txBody>
          <a:bodyPr wrap="square" lIns="0" tIns="0" rIns="0" bIns="0" rtlCol="0" anchor="ctr"/>
          <a:lstStyle/>
          <a:p>
            <a:pPr algn="r" indent="0" marL="0">
              <a:buNone/>
            </a:pPr>
            <a:r>
              <a:rPr lang="en-US" sz="900" dirty="0">
                <a:solidFill>
                  <a:srgbClr val="82868E"/>
                </a:solidFill>
                <a:latin typeface="Courier New" pitchFamily="34" charset="0"/>
                <a:ea typeface="Courier New" pitchFamily="34" charset="-122"/>
                <a:cs typeface="Courier New" pitchFamily="34" charset="-120"/>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ToxAI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ToxAI Organ Atlas</dc:title>
  <dc:subject>PptxGenJS Presentation</dc:subject>
  <dc:creator>Sebastian Roy</dc:creator>
  <cp:lastModifiedBy>Sebastian Roy</cp:lastModifiedBy>
  <cp:revision>1</cp:revision>
  <dcterms:created xsi:type="dcterms:W3CDTF">2026-09-10T10:11:49Z</dcterms:created>
  <dcterms:modified xsi:type="dcterms:W3CDTF">2026-09-10T10:11:49Z</dcterms:modified>
</cp:coreProperties>
</file>